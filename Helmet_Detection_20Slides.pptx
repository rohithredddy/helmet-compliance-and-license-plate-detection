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6" r:id="rId2"/>
    <p:sldId id="257" r:id="rId3"/>
    <p:sldId id="258" r:id="rId4"/>
    <p:sldId id="260" r:id="rId5"/>
    <p:sldId id="261" r:id="rId6"/>
    <p:sldId id="348" r:id="rId7"/>
    <p:sldId id="302" r:id="rId8"/>
    <p:sldId id="264" r:id="rId9"/>
    <p:sldId id="351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A6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B3A6B"/>
                </a:solidFill>
                <a:latin typeface="Arial"/>
              </a:rPr>
              <a:t>Class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2E5-45DE-BA52-9D4ECD556699}"/>
              </c:ext>
            </c:extLst>
          </c:dPt>
          <c:dPt>
            <c:idx val="1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2E5-45DE-BA52-9D4ECD556699}"/>
              </c:ext>
            </c:extLst>
          </c:dPt>
          <c:dPt>
            <c:idx val="2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2E5-45DE-BA52-9D4ECD556699}"/>
              </c:ext>
            </c:extLst>
          </c:dPt>
          <c:dPt>
            <c:idx val="3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2E5-45DE-BA52-9D4ECD55669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2E5-45DE-BA52-9D4ECD55669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2E5-45DE-BA52-9D4ECD55669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2E5-45DE-BA52-9D4ECD55669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2E5-45DE-BA52-9D4ECD55669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Motorbike</c:v>
                </c:pt>
                <c:pt idx="1">
                  <c:v>Helmet</c:v>
                </c:pt>
                <c:pt idx="2">
                  <c:v>NoHelmet</c:v>
                </c:pt>
                <c:pt idx="3">
                  <c:v>PNumber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3013</c:v>
                </c:pt>
                <c:pt idx="1">
                  <c:v>2306</c:v>
                </c:pt>
                <c:pt idx="2">
                  <c:v>2033</c:v>
                </c:pt>
                <c:pt idx="3">
                  <c:v>1480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2E5-45DE-BA52-9D4ECD5566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A6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B3A6B"/>
                </a:solidFill>
                <a:latin typeface="Arial"/>
              </a:rPr>
              <a:t>License Plate mAP vs Resolution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PNumber mAP@0.5 (%)</c:v>
                </c:pt>
              </c:strCache>
            </c:strRef>
          </c:tx>
          <c:spPr>
            <a:solidFill>
              <a:srgbClr val="607D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29-4EDF-B4A9-33FBDA38D215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B29-4EDF-B4A9-33FBDA38D215}"/>
              </c:ext>
            </c:extLst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B29-4EDF-B4A9-33FBDA38D21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3A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640×640</c:v>
                </c:pt>
                <c:pt idx="1">
                  <c:v>960×960
✓ Chosen</c:v>
                </c:pt>
                <c:pt idx="2">
                  <c:v>1280×1280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78.3</c:v>
                </c:pt>
                <c:pt idx="1">
                  <c:v>93.9</c:v>
                </c:pt>
                <c:pt idx="2">
                  <c:v>95.1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B29-4EDF-B4A9-33FBDA38D2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A6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B3A6B"/>
                </a:solidFill>
                <a:latin typeface="Arial"/>
              </a:rPr>
              <a:t>Per-Class mAP@0.5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mAP@0.5 (%)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E1C-4EAD-8031-EF0F04BBCC4D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E1C-4EAD-8031-EF0F04BBCC4D}"/>
              </c:ext>
            </c:extLst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E1C-4EAD-8031-EF0F04BBCC4D}"/>
              </c:ext>
            </c:extLst>
          </c:dPt>
          <c:dPt>
            <c:idx val="3"/>
            <c:invertIfNegative val="0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E1C-4EAD-8031-EF0F04BBCC4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3A6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Helmet</c:v>
                </c:pt>
                <c:pt idx="1">
                  <c:v>Motorbike</c:v>
                </c:pt>
                <c:pt idx="2">
                  <c:v>NoHelmet</c:v>
                </c:pt>
                <c:pt idx="3">
                  <c:v>PNumber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98.4</c:v>
                </c:pt>
                <c:pt idx="1">
                  <c:v>97.8</c:v>
                </c:pt>
                <c:pt idx="2">
                  <c:v>97</c:v>
                </c:pt>
                <c:pt idx="3">
                  <c:v>93.9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E1C-4EAD-8031-EF0F04BBCC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7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474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4E21D-24A6-4DBB-909A-112C34AE6165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2B0F5-808D-4B13-9B04-E9105B9C03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833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8D1748-328F-6957-5643-AD92B81EDF61}"/>
              </a:ext>
            </a:extLst>
          </p:cNvPr>
          <p:cNvSpPr txBox="1"/>
          <p:nvPr/>
        </p:nvSpPr>
        <p:spPr>
          <a:xfrm>
            <a:off x="1430147" y="1720682"/>
            <a:ext cx="652740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Extreme Object Scale Variation for Helmet Compliance and License Plate Detection using Attention-Enhanced YOLOv8</a:t>
            </a:r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B7D75-A978-3B7B-85A6-DE0DF9E06579}"/>
              </a:ext>
            </a:extLst>
          </p:cNvPr>
          <p:cNvSpPr txBox="1"/>
          <p:nvPr/>
        </p:nvSpPr>
        <p:spPr>
          <a:xfrm>
            <a:off x="1430147" y="3096193"/>
            <a:ext cx="330994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P.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Penchala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Prasad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CSE(DS)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14CF48-A184-52D3-72B9-6DC794BC99E4}"/>
              </a:ext>
            </a:extLst>
          </p:cNvPr>
          <p:cNvSpPr txBox="1"/>
          <p:nvPr/>
        </p:nvSpPr>
        <p:spPr>
          <a:xfrm>
            <a:off x="5204072" y="3096193"/>
            <a:ext cx="3188858" cy="1234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V. Rohith Reddy - 22091A32G0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Bhargavi               - 23095A3204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Srujana                - 22091A32E7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E5C489-7C9D-452D-2C10-F724BACF3776}"/>
              </a:ext>
            </a:extLst>
          </p:cNvPr>
          <p:cNvSpPr txBox="1"/>
          <p:nvPr/>
        </p:nvSpPr>
        <p:spPr>
          <a:xfrm>
            <a:off x="2200535" y="393256"/>
            <a:ext cx="533085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rgbClr val="000000"/>
              </a:buClr>
              <a:buSzPts val="1700"/>
            </a:pPr>
            <a:r>
              <a:rPr lang="en-US" sz="135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RAJEEV GANDHI MEMORIAL COLLEGE OF ENGINEERING &amp; TECHNOLOGY (AUTONOMOUS) </a:t>
            </a:r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lang="en-US" sz="13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buClr>
                <a:srgbClr val="000000"/>
              </a:buClr>
              <a:buSzPts val="1700"/>
            </a:pPr>
            <a:r>
              <a:rPr lang="en-US" sz="135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Nandyal-518501, Kurnool – Dt. AP. India</a:t>
            </a:r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lang="en-US" sz="13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Clr>
                <a:srgbClr val="000000"/>
              </a:buClr>
              <a:buSzPts val="1700"/>
            </a:pPr>
            <a:r>
              <a:rPr lang="en-US" sz="135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Engineering(Data Science)</a:t>
            </a:r>
            <a:r>
              <a:rPr lang="en-US" sz="135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  <a:endParaRPr lang="en-US" sz="13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IN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57C357-9947-77FA-4A39-58EE67969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441" y="510590"/>
            <a:ext cx="868755" cy="8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804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694944"/>
            <a:ext cx="1005840" cy="502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4133088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14400"/>
            <a:ext cx="64008" cy="9326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9966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Global Road Safety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2618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traffic injuries cause 1.35 million deaths per year worldwide, with 28% involving motorcyclists — a major preventable public health crisis.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90872" y="914400"/>
            <a:ext cx="4133088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90872" y="914400"/>
            <a:ext cx="64008" cy="9326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18888" y="9966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🪖 Helmet Effectiveness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8888" y="12618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Wearing a helmet reduces fatality risk by ~42% and head injury risk by ~69%, yet violations remain rampant due to poor monitoring infrastructure.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1938528"/>
            <a:ext cx="4133088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1938528"/>
            <a:ext cx="64008" cy="9326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020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Monitoring Challenge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22860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traffic enforcement relies on manual observation — prone to fatigue, limited coverage, and inconsistent rule application.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90872" y="1938528"/>
            <a:ext cx="4133088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90872" y="1938528"/>
            <a:ext cx="64008" cy="93268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18888" y="2020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AI-Powered Solution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8888" y="22860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like YOLO enable automated, real-time multi-object detection for helmets, license plates, and riders from camera feeds.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01752" y="3131820"/>
            <a:ext cx="8449056" cy="749808"/>
          </a:xfrm>
          <a:prstGeom prst="rect">
            <a:avLst/>
          </a:prstGeom>
          <a:solidFill>
            <a:srgbClr val="1565C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" y="3196062"/>
            <a:ext cx="8119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proposes an attention-enhanced YOLOv8m framework achieving  96.47% mAP@0.5  at  22 FPS  for simultaneous detection of motorbikes, helmets, violations, and license plates.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694944"/>
            <a:ext cx="1005840" cy="502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2606040" cy="1143000"/>
          </a:xfrm>
          <a:prstGeom prst="rect">
            <a:avLst/>
          </a:prstGeom>
          <a:solidFill>
            <a:srgbClr val="1B3A6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78408"/>
            <a:ext cx="26060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7472" y="1577340"/>
            <a:ext cx="26060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deaths per year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(WHO 2023)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914400"/>
            <a:ext cx="2606040" cy="1143000"/>
          </a:xfrm>
          <a:prstGeom prst="rect">
            <a:avLst/>
          </a:prstGeom>
          <a:solidFill>
            <a:srgbClr val="1565C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64408" y="978408"/>
            <a:ext cx="26060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64408" y="1577340"/>
            <a:ext cx="26060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fatalities 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motorcyclists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0488" y="914400"/>
            <a:ext cx="2606040" cy="1143000"/>
          </a:xfrm>
          <a:prstGeom prst="rect">
            <a:avLst/>
          </a:prstGeom>
          <a:solidFill>
            <a:srgbClr val="00897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90488" y="978408"/>
            <a:ext cx="26060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90488" y="1577340"/>
            <a:ext cx="26060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risk reduction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helmet use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2231136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Problems to Solve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" y="2606040"/>
            <a:ext cx="4133088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2606040"/>
            <a:ext cx="64008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2651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Extremes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2898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range from 0.004% (license plate) to 94.22% of the image — a 5-order scale gap CNN models struggle with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90872" y="2606040"/>
            <a:ext cx="4133088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90872" y="2606040"/>
            <a:ext cx="64008" cy="80467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18888" y="26517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Object Loss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8888" y="2898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plates shrink to just ~37 pixels at 640×640 — below the threshold for reliable detection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3520440"/>
            <a:ext cx="4133088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47472" y="3520440"/>
            <a:ext cx="64008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" y="35661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Bottleneck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" y="3813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Human-based enforcement misses violations, tires quickly, and cannot monitor multiple lanes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90872" y="3520440"/>
            <a:ext cx="4133088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90872" y="3520440"/>
            <a:ext cx="64008" cy="8046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18888" y="35661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Tuning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18888" y="3813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models use default hyperparameters, leaving significant accuracy gains unexplored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Key Prior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694944"/>
            <a:ext cx="1005840" cy="502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32688"/>
            <a:ext cx="413308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932688"/>
            <a:ext cx="4133088" cy="31089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9784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Redmon et al. (2016)  —  YOLOv1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298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Introduced single-stage real-time detection as a regression problem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16093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Low accuracy on small objects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932688"/>
            <a:ext cx="413308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90872" y="932688"/>
            <a:ext cx="4133088" cy="310896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82312" y="9784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 et al. (2017)  —  Faster R-CNN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82312" y="12984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Two-stage detector with region proposal networks, high precision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82312" y="16093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Too slow for real-time traffic monitoring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258568"/>
            <a:ext cx="413308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2258568"/>
            <a:ext cx="4133088" cy="310896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23042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 et al. (2017)  —  FPN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26243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Feature Pyramid Networks for multi-scale feature fusion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912" y="29352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Still struggles with extreme scale variation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90872" y="2258568"/>
            <a:ext cx="413308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90872" y="2258568"/>
            <a:ext cx="4133088" cy="310896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82312" y="23042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 et al. (2018)  —  CBAM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82312" y="26243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Channel + spatial attention modules improve feature focus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82312" y="29352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Does not encode directional spatial location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3584448"/>
            <a:ext cx="413308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3584448"/>
            <a:ext cx="4133088" cy="310896"/>
          </a:xfrm>
          <a:prstGeom prst="rect">
            <a:avLst/>
          </a:prstGeom>
          <a:solidFill>
            <a:srgbClr val="1976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8912" y="36301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 et al. (2024)  —  HelmetNet (YOLOv8)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" y="3950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YOLO-based helmet detection with improved accuracy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8912" y="42611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license plate detection or hyperparameter tuning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90872" y="3584448"/>
            <a:ext cx="413308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90872" y="3584448"/>
            <a:ext cx="4133088" cy="310896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82312" y="36301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Mukherjee et al. (2025)  —  Helmet + Plate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82312" y="39502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Multi-object detection combining helmet and plate detection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82312" y="42611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Extreme scale variation not systematically evaluated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Existing Systems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694944"/>
            <a:ext cx="1005840" cy="502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8449056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896112"/>
            <a:ext cx="64008" cy="7315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8992" y="9326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Small Object Detection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122529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plates (&lt;32×32 px) are lost in deeper CNN feature maps at standard 640×640 resolution — recall drops to ~78% for plates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" y="1719072"/>
            <a:ext cx="8449056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719072"/>
            <a:ext cx="64008" cy="7315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719072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78992" y="1755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Hyperparameter Tuning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78992" y="204825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models use default learning rates and momentum — no Bayesian search performed; optimal accuracy remains unexplored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" y="2542032"/>
            <a:ext cx="8449056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2542032"/>
            <a:ext cx="64008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542032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78992" y="2578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Variation Not Evaluated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78992" y="287121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benchmarks don't test objects spanning 0.004%–94% of image area in the same scene — the real-world condition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7472" y="3364992"/>
            <a:ext cx="8449056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3364992"/>
            <a:ext cx="64008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364992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🌧️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78992" y="3401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Adverse Condition Evaluation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78992" y="369417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traffic occlusion, motion blur, headlight glare, and night conditions are rarely benchmarked in prior helmet detection papers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7472" y="4187952"/>
            <a:ext cx="8449056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4187952"/>
            <a:ext cx="64008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187952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78992" y="4224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Real-Time Analysis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78992" y="451713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published systems exceed 100 ms/frame, making them unsuitable for live traffic monitoring or edge deployment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499FCA-00BF-C791-897A-37D02711469A}"/>
              </a:ext>
            </a:extLst>
          </p:cNvPr>
          <p:cNvSpPr txBox="1"/>
          <p:nvPr/>
        </p:nvSpPr>
        <p:spPr>
          <a:xfrm>
            <a:off x="294380" y="109287"/>
            <a:ext cx="362398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E042C1-368A-644F-CB92-3CCF449DC425}"/>
              </a:ext>
            </a:extLst>
          </p:cNvPr>
          <p:cNvSpPr/>
          <p:nvPr/>
        </p:nvSpPr>
        <p:spPr>
          <a:xfrm>
            <a:off x="708486" y="1534300"/>
            <a:ext cx="720821" cy="543954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80" tIns="34290" rIns="68580" bIns="34290" rtlCol="0" anchor="ctr"/>
          <a:lstStyle/>
          <a:p>
            <a:pPr algn="ctr"/>
            <a:endParaRPr lang="en-IN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B404B6-01F6-ECAD-BF5A-1FBAB46074DC}"/>
              </a:ext>
            </a:extLst>
          </p:cNvPr>
          <p:cNvSpPr/>
          <p:nvPr/>
        </p:nvSpPr>
        <p:spPr>
          <a:xfrm>
            <a:off x="3362124" y="1522030"/>
            <a:ext cx="990002" cy="615203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683379-3F95-18AF-E257-6F27EC6DB7E7}"/>
              </a:ext>
            </a:extLst>
          </p:cNvPr>
          <p:cNvSpPr/>
          <p:nvPr/>
        </p:nvSpPr>
        <p:spPr>
          <a:xfrm>
            <a:off x="5330022" y="1532361"/>
            <a:ext cx="1091143" cy="65025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38E03F-A75C-CEFD-E7B2-27B94E5841EA}"/>
              </a:ext>
            </a:extLst>
          </p:cNvPr>
          <p:cNvSpPr/>
          <p:nvPr/>
        </p:nvSpPr>
        <p:spPr>
          <a:xfrm>
            <a:off x="4842528" y="2992864"/>
            <a:ext cx="1381683" cy="621023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Detects</a:t>
            </a:r>
            <a:br>
              <a:rPr lang="en-IN" sz="105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Motorcycle, Helmet, </a:t>
            </a:r>
            <a:r>
              <a:rPr lang="en-IN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NoHelmet</a:t>
            </a:r>
            <a:r>
              <a:rPr lang="en-IN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PNumber</a:t>
            </a:r>
            <a:endParaRPr lang="en-IN" sz="10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73BC1-4CD5-6EA0-502A-5C7231308F7C}"/>
              </a:ext>
            </a:extLst>
          </p:cNvPr>
          <p:cNvSpPr/>
          <p:nvPr/>
        </p:nvSpPr>
        <p:spPr>
          <a:xfrm>
            <a:off x="3033319" y="3046664"/>
            <a:ext cx="1204352" cy="672353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Predicting</a:t>
            </a:r>
          </a:p>
          <a:p>
            <a:pPr algn="ctr"/>
            <a:r>
              <a:rPr lang="en-IN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Bounding Box and class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442A4CD-1F21-4A5E-AC73-829C8446B4B2}"/>
              </a:ext>
            </a:extLst>
          </p:cNvPr>
          <p:cNvSpPr/>
          <p:nvPr/>
        </p:nvSpPr>
        <p:spPr>
          <a:xfrm>
            <a:off x="1422363" y="1756084"/>
            <a:ext cx="517712" cy="57150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>
              <a:solidFill>
                <a:schemeClr val="tx1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8A2C33C-06F9-25A8-CC32-060F08BD6190}"/>
              </a:ext>
            </a:extLst>
          </p:cNvPr>
          <p:cNvSpPr/>
          <p:nvPr/>
        </p:nvSpPr>
        <p:spPr>
          <a:xfrm>
            <a:off x="2837894" y="1790659"/>
            <a:ext cx="517712" cy="57150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252FE21-AB5E-AFB2-B41A-537623DA283E}"/>
              </a:ext>
            </a:extLst>
          </p:cNvPr>
          <p:cNvSpPr/>
          <p:nvPr/>
        </p:nvSpPr>
        <p:spPr>
          <a:xfrm flipV="1">
            <a:off x="4358644" y="1778227"/>
            <a:ext cx="971378" cy="6958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99C32F6-BF6A-B60D-7580-3E8B77946B6E}"/>
              </a:ext>
            </a:extLst>
          </p:cNvPr>
          <p:cNvSpPr/>
          <p:nvPr/>
        </p:nvSpPr>
        <p:spPr>
          <a:xfrm flipV="1">
            <a:off x="6404368" y="1800425"/>
            <a:ext cx="749468" cy="47384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3F840D77-EFF4-845A-6B0B-1A325834D810}"/>
              </a:ext>
            </a:extLst>
          </p:cNvPr>
          <p:cNvSpPr/>
          <p:nvPr/>
        </p:nvSpPr>
        <p:spPr>
          <a:xfrm>
            <a:off x="7608924" y="2102195"/>
            <a:ext cx="73982" cy="81442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3EBA1CE-CD62-AB0A-0B74-23450A55D582}"/>
              </a:ext>
            </a:extLst>
          </p:cNvPr>
          <p:cNvSpPr/>
          <p:nvPr/>
        </p:nvSpPr>
        <p:spPr>
          <a:xfrm rot="10800000">
            <a:off x="4238236" y="3269842"/>
            <a:ext cx="591671" cy="57149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848BD351-F276-D713-13EA-A59D0257B459}"/>
              </a:ext>
            </a:extLst>
          </p:cNvPr>
          <p:cNvSpPr/>
          <p:nvPr/>
        </p:nvSpPr>
        <p:spPr>
          <a:xfrm rot="10800000">
            <a:off x="2248813" y="3322675"/>
            <a:ext cx="771884" cy="57149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4100401-AE4B-C558-F581-C76571CE8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427" y="2722880"/>
            <a:ext cx="1200076" cy="140312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2720B11-B92D-BBDE-BC7E-9412CD465D59}"/>
              </a:ext>
            </a:extLst>
          </p:cNvPr>
          <p:cNvSpPr txBox="1"/>
          <p:nvPr/>
        </p:nvSpPr>
        <p:spPr>
          <a:xfrm>
            <a:off x="4351825" y="1388561"/>
            <a:ext cx="1011018" cy="553998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ctr"/>
            <a:r>
              <a:rPr lang="en-IN" sz="1050" b="1" dirty="0">
                <a:latin typeface="Times New Roman"/>
                <a:cs typeface="Times New Roman"/>
              </a:rPr>
              <a:t>Input size</a:t>
            </a:r>
            <a:endParaRPr lang="en-IN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050" b="1" dirty="0">
                <a:latin typeface="Times New Roman"/>
                <a:cs typeface="Times New Roman"/>
              </a:rPr>
              <a:t>Normalization</a:t>
            </a:r>
            <a:br>
              <a:rPr lang="en-IN" sz="1050" b="1" dirty="0">
                <a:latin typeface="Times New Roman"/>
                <a:cs typeface="Times New Roman"/>
              </a:rPr>
            </a:br>
            <a:endParaRPr lang="en-IN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15BEC-7B9C-C1C1-84C6-22226A82CE05}"/>
              </a:ext>
            </a:extLst>
          </p:cNvPr>
          <p:cNvSpPr/>
          <p:nvPr/>
        </p:nvSpPr>
        <p:spPr>
          <a:xfrm>
            <a:off x="7156565" y="1499809"/>
            <a:ext cx="995488" cy="60808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YOLOv8m + CA Detection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B059C5-5BD9-B9C9-D44C-3B84FFF3DD1B}"/>
              </a:ext>
            </a:extLst>
          </p:cNvPr>
          <p:cNvSpPr txBox="1"/>
          <p:nvPr/>
        </p:nvSpPr>
        <p:spPr>
          <a:xfrm>
            <a:off x="1867774" y="2229821"/>
            <a:ext cx="10320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/>
              <a:t>Image captured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170AA1-A330-C631-4FD8-43EA3686065F}"/>
              </a:ext>
            </a:extLst>
          </p:cNvPr>
          <p:cNvSpPr/>
          <p:nvPr/>
        </p:nvSpPr>
        <p:spPr>
          <a:xfrm>
            <a:off x="6984404" y="2924159"/>
            <a:ext cx="1381683" cy="621023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en-IN" sz="1050" b="1">
                <a:latin typeface="Times New Roman"/>
                <a:cs typeface="Times New Roman"/>
              </a:rPr>
              <a:t>Learning rate</a:t>
            </a:r>
          </a:p>
          <a:p>
            <a:pPr algn="ctr"/>
            <a:r>
              <a:rPr lang="en-IN" sz="1050" b="1">
                <a:latin typeface="Times New Roman"/>
                <a:cs typeface="Times New Roman"/>
              </a:rPr>
              <a:t>Batch size</a:t>
            </a:r>
          </a:p>
          <a:p>
            <a:pPr algn="ctr"/>
            <a:r>
              <a:rPr lang="en-IN" sz="1050" b="1">
                <a:latin typeface="Times New Roman"/>
                <a:cs typeface="Times New Roman"/>
              </a:rPr>
              <a:t>Confidence threshold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3B15C8A1-987F-0347-BB66-BCD7A80F609A}"/>
              </a:ext>
            </a:extLst>
          </p:cNvPr>
          <p:cNvSpPr/>
          <p:nvPr/>
        </p:nvSpPr>
        <p:spPr>
          <a:xfrm rot="10800000">
            <a:off x="6224212" y="3269842"/>
            <a:ext cx="768896" cy="5283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5648DB-1DDF-D689-603D-256381FE0AA9}"/>
              </a:ext>
            </a:extLst>
          </p:cNvPr>
          <p:cNvSpPr txBox="1"/>
          <p:nvPr/>
        </p:nvSpPr>
        <p:spPr>
          <a:xfrm>
            <a:off x="6260000" y="2264891"/>
            <a:ext cx="13816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hyperparameters</a:t>
            </a:r>
          </a:p>
        </p:txBody>
      </p:sp>
      <p:pic>
        <p:nvPicPr>
          <p:cNvPr id="4" name="Graphic 3" descr="Camera with solid fill">
            <a:extLst>
              <a:ext uri="{FF2B5EF4-FFF2-40B4-BE49-F238E27FC236}">
                <a16:creationId xmlns:a16="http://schemas.microsoft.com/office/drawing/2014/main" id="{7BAAAA17-4229-FA90-B086-8BED775D6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353" y="1493962"/>
            <a:ext cx="613928" cy="6139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AF1558-E6A9-0FBD-4C38-BDBFF4BB31A1}"/>
              </a:ext>
            </a:extLst>
          </p:cNvPr>
          <p:cNvSpPr txBox="1"/>
          <p:nvPr/>
        </p:nvSpPr>
        <p:spPr>
          <a:xfrm>
            <a:off x="551649" y="2177056"/>
            <a:ext cx="925277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1050" b="1">
                <a:latin typeface="Times New Roman"/>
                <a:cs typeface="Times New Roman"/>
              </a:rPr>
              <a:t>Live Footage</a:t>
            </a:r>
            <a:endParaRPr lang="en-US" sz="1050" err="1">
              <a:latin typeface="Times New Roman"/>
              <a:cs typeface="Times New Roman"/>
            </a:endParaRPr>
          </a:p>
          <a:p>
            <a:pPr algn="l"/>
            <a:endParaRPr lang="en-US" sz="1350">
              <a:ea typeface="Calibri Light"/>
              <a:cs typeface="Calibri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206A0-19A2-FAC5-4D94-8232219D57C3}"/>
              </a:ext>
            </a:extLst>
          </p:cNvPr>
          <p:cNvSpPr txBox="1"/>
          <p:nvPr/>
        </p:nvSpPr>
        <p:spPr>
          <a:xfrm>
            <a:off x="5502319" y="525921"/>
            <a:ext cx="2151989" cy="7155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14313" algn="ctr"/>
            <a:r>
              <a:rPr lang="en-IN" sz="1050" b="1" dirty="0">
                <a:latin typeface="Times New Roman"/>
                <a:cs typeface="Times New Roman"/>
              </a:rPr>
              <a:t>To enhance small object detection with effective feature extraction.</a:t>
            </a:r>
            <a:endParaRPr lang="en-US" sz="1050" b="1" dirty="0">
              <a:ea typeface="Calibri Light" panose="020F0302020204030204"/>
              <a:cs typeface="Calibri Light" panose="020F0302020204030204"/>
            </a:endParaRPr>
          </a:p>
          <a:p>
            <a:pPr algn="ctr"/>
            <a:endParaRPr lang="en-US" sz="1050" b="1" dirty="0">
              <a:latin typeface="Times New Roman"/>
              <a:ea typeface="Calibri Light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7039B9-D9DD-68A3-6E61-D3324110EFB1}"/>
              </a:ext>
            </a:extLst>
          </p:cNvPr>
          <p:cNvSpPr txBox="1"/>
          <p:nvPr/>
        </p:nvSpPr>
        <p:spPr>
          <a:xfrm>
            <a:off x="3081753" y="676783"/>
            <a:ext cx="1568047" cy="8079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14313" algn="ctr"/>
            <a:r>
              <a:rPr lang="en-IN" sz="1050" b="1" dirty="0">
                <a:latin typeface="Times New Roman"/>
                <a:cs typeface="Times New Roman"/>
              </a:rPr>
              <a:t>To improve model generalization</a:t>
            </a:r>
            <a:r>
              <a:rPr lang="en-IN" sz="1350" dirty="0">
                <a:latin typeface="Times New Roman"/>
                <a:cs typeface="Times New Roman"/>
              </a:rPr>
              <a:t>.</a:t>
            </a:r>
            <a:endParaRPr lang="en-US" sz="1350" dirty="0">
              <a:ea typeface="Calibri Light"/>
              <a:cs typeface="Calibri Light"/>
            </a:endParaRPr>
          </a:p>
          <a:p>
            <a:pPr algn="ctr"/>
            <a:endParaRPr lang="en-US" sz="1350" dirty="0">
              <a:ea typeface="Calibri Light"/>
              <a:cs typeface="Calibri Light"/>
            </a:endParaRP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2338BC51-2DBF-3106-0BDC-9FFD8A711E4D}"/>
              </a:ext>
            </a:extLst>
          </p:cNvPr>
          <p:cNvSpPr/>
          <p:nvPr/>
        </p:nvSpPr>
        <p:spPr>
          <a:xfrm>
            <a:off x="3744481" y="1246338"/>
            <a:ext cx="242591" cy="27385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492CD138-336F-CB15-B24E-C4CFEF8EB929}"/>
              </a:ext>
            </a:extLst>
          </p:cNvPr>
          <p:cNvSpPr/>
          <p:nvPr/>
        </p:nvSpPr>
        <p:spPr>
          <a:xfrm rot="1524574">
            <a:off x="5999879" y="1140555"/>
            <a:ext cx="185853" cy="38148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739B54-C626-7C39-C9CC-44F2FF0E1199}"/>
              </a:ext>
            </a:extLst>
          </p:cNvPr>
          <p:cNvSpPr txBox="1"/>
          <p:nvPr/>
        </p:nvSpPr>
        <p:spPr>
          <a:xfrm>
            <a:off x="3629036" y="401052"/>
            <a:ext cx="224981" cy="389513"/>
          </a:xfrm>
          <a:prstGeom prst="ellipse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35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6B6708-DF3F-33BD-4BD3-1C3FA8F507BD}"/>
              </a:ext>
            </a:extLst>
          </p:cNvPr>
          <p:cNvSpPr txBox="1"/>
          <p:nvPr/>
        </p:nvSpPr>
        <p:spPr>
          <a:xfrm>
            <a:off x="833169" y="678911"/>
            <a:ext cx="1897663" cy="389513"/>
          </a:xfrm>
          <a:prstGeom prst="ellipse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BCD13A9-0DB2-A55D-5CBE-102CF9E4102F}"/>
              </a:ext>
            </a:extLst>
          </p:cNvPr>
          <p:cNvSpPr/>
          <p:nvPr/>
        </p:nvSpPr>
        <p:spPr>
          <a:xfrm flipV="1">
            <a:off x="2983149" y="688835"/>
            <a:ext cx="1649884" cy="51476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4DE037E-422C-9F5A-9EF5-760F5930D21A}"/>
              </a:ext>
            </a:extLst>
          </p:cNvPr>
          <p:cNvSpPr/>
          <p:nvPr/>
        </p:nvSpPr>
        <p:spPr>
          <a:xfrm>
            <a:off x="3203049" y="585203"/>
            <a:ext cx="1430629" cy="6319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3B5824D-1222-BD47-F488-0492BA17E8FA}"/>
              </a:ext>
            </a:extLst>
          </p:cNvPr>
          <p:cNvSpPr/>
          <p:nvPr/>
        </p:nvSpPr>
        <p:spPr>
          <a:xfrm>
            <a:off x="5695744" y="412169"/>
            <a:ext cx="1935872" cy="7864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625AEE-2B46-3F83-D136-DB68CF16C662}"/>
              </a:ext>
            </a:extLst>
          </p:cNvPr>
          <p:cNvSpPr txBox="1"/>
          <p:nvPr/>
        </p:nvSpPr>
        <p:spPr>
          <a:xfrm>
            <a:off x="6717628" y="4042692"/>
            <a:ext cx="1827977" cy="7155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14313" algn="ctr"/>
            <a:r>
              <a:rPr lang="en-IN" sz="1050" b="1" dirty="0">
                <a:latin typeface="Times New Roman"/>
                <a:cs typeface="Times New Roman"/>
              </a:rPr>
              <a:t>To identify the most suitable hyperparameters.</a:t>
            </a:r>
            <a:endParaRPr lang="en-US" sz="1050" b="1" dirty="0">
              <a:latin typeface="Times New Roman"/>
              <a:cs typeface="Times New Roman"/>
            </a:endParaRPr>
          </a:p>
          <a:p>
            <a:pPr algn="ctr"/>
            <a:endParaRPr lang="en-US" sz="1050" b="1" dirty="0">
              <a:ea typeface="Calibri Light"/>
              <a:cs typeface="Calibri Light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79CBEB4-B45B-A302-37C3-D549BEEB89F9}"/>
              </a:ext>
            </a:extLst>
          </p:cNvPr>
          <p:cNvSpPr/>
          <p:nvPr/>
        </p:nvSpPr>
        <p:spPr>
          <a:xfrm>
            <a:off x="6825380" y="3892852"/>
            <a:ext cx="1742916" cy="7461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5E0ABBB4-D1FF-F044-5120-284880EED244}"/>
              </a:ext>
            </a:extLst>
          </p:cNvPr>
          <p:cNvSpPr/>
          <p:nvPr/>
        </p:nvSpPr>
        <p:spPr>
          <a:xfrm>
            <a:off x="7571525" y="3552727"/>
            <a:ext cx="190292" cy="3325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1F55D36-6926-0899-FA9D-7E8663CD2BAB}"/>
              </a:ext>
            </a:extLst>
          </p:cNvPr>
          <p:cNvSpPr/>
          <p:nvPr/>
        </p:nvSpPr>
        <p:spPr>
          <a:xfrm>
            <a:off x="1937880" y="1508650"/>
            <a:ext cx="897504" cy="6139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7E9F89-8FC9-976D-0EA1-06C0EE8C7622}"/>
              </a:ext>
            </a:extLst>
          </p:cNvPr>
          <p:cNvSpPr txBox="1"/>
          <p:nvPr/>
        </p:nvSpPr>
        <p:spPr>
          <a:xfrm>
            <a:off x="1772352" y="1610069"/>
            <a:ext cx="1138792" cy="3924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b="1" dirty="0">
                <a:latin typeface="Times New Roman"/>
                <a:ea typeface="Calibri Light"/>
                <a:cs typeface="Times New Roman"/>
              </a:rPr>
              <a:t>Frame Extraction</a:t>
            </a:r>
            <a:endParaRPr lang="en-US" sz="1050" b="1" dirty="0">
              <a:latin typeface="Times New Roman"/>
              <a:cs typeface="Times New Roman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EF00F84-CD50-1889-463D-246FB18C342B}"/>
              </a:ext>
            </a:extLst>
          </p:cNvPr>
          <p:cNvSpPr/>
          <p:nvPr/>
        </p:nvSpPr>
        <p:spPr>
          <a:xfrm>
            <a:off x="394803" y="600088"/>
            <a:ext cx="2855577" cy="45719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8545F749-5990-06C5-E053-7795439D8B54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34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4BDC84-1B66-CAA1-7AFD-D059A5EA8D69}"/>
              </a:ext>
            </a:extLst>
          </p:cNvPr>
          <p:cNvSpPr txBox="1"/>
          <p:nvPr/>
        </p:nvSpPr>
        <p:spPr>
          <a:xfrm>
            <a:off x="-497541" y="484266"/>
            <a:ext cx="506281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E0830-2061-6799-CCFB-BAC919E32B36}"/>
              </a:ext>
            </a:extLst>
          </p:cNvPr>
          <p:cNvSpPr txBox="1"/>
          <p:nvPr/>
        </p:nvSpPr>
        <p:spPr>
          <a:xfrm>
            <a:off x="1378324" y="1445559"/>
            <a:ext cx="5580530" cy="188083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marL="257175" indent="-257175">
              <a:lnSpc>
                <a:spcPct val="200000"/>
              </a:lnSpc>
              <a:buAutoNum type="arabicPeriod"/>
            </a:pPr>
            <a:r>
              <a:rPr lang="en-IN" sz="1350" dirty="0">
                <a:latin typeface="Times New Roman"/>
                <a:cs typeface="Times New Roman"/>
              </a:rPr>
              <a:t>To improve model generalization.</a:t>
            </a:r>
          </a:p>
          <a:p>
            <a:pPr marL="257175" indent="-257175">
              <a:lnSpc>
                <a:spcPct val="200000"/>
              </a:lnSpc>
              <a:buAutoNum type="arabicPeriod"/>
            </a:pPr>
            <a:r>
              <a:rPr lang="en-IN" sz="1350" dirty="0">
                <a:latin typeface="Times New Roman"/>
                <a:cs typeface="Times New Roman"/>
              </a:rPr>
              <a:t>To enhance small object detection with effective feature extraction.</a:t>
            </a: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200000"/>
              </a:lnSpc>
              <a:buAutoNum type="arabicPeriod"/>
            </a:pPr>
            <a:r>
              <a:rPr lang="en-IN" sz="1350" dirty="0">
                <a:latin typeface="Times New Roman"/>
                <a:ea typeface="Calibri Light" panose="020F0302020204030204"/>
                <a:cs typeface="Times New Roman"/>
              </a:rPr>
              <a:t>To </a:t>
            </a:r>
            <a:r>
              <a:rPr lang="en-IN" sz="1350" dirty="0">
                <a:latin typeface="Times New Roman"/>
                <a:ea typeface="+mn-lt"/>
                <a:cs typeface="Times New Roman"/>
              </a:rPr>
              <a:t>identify the most suitable hyperparameters.</a:t>
            </a:r>
          </a:p>
          <a:p>
            <a:pPr marL="257175" indent="-257175">
              <a:buAutoNum type="arabicPeriod"/>
            </a:pPr>
            <a:endParaRPr lang="en-IN" sz="1350" dirty="0">
              <a:latin typeface="Times New Roman"/>
              <a:ea typeface="+mn-lt"/>
              <a:cs typeface="Times New Roman"/>
            </a:endParaRPr>
          </a:p>
          <a:p>
            <a:pPr marL="257175" indent="-257175">
              <a:lnSpc>
                <a:spcPct val="200000"/>
              </a:lnSpc>
              <a:buAutoNum type="arabicPeriod"/>
            </a:pPr>
            <a:endParaRPr lang="en-IN" sz="1350" dirty="0">
              <a:latin typeface="Calibri Light"/>
              <a:ea typeface="+mn-lt"/>
              <a:cs typeface="Calibri Light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0CE8C0D-358D-1CB6-128A-689F7B211198}"/>
              </a:ext>
            </a:extLst>
          </p:cNvPr>
          <p:cNvSpPr/>
          <p:nvPr/>
        </p:nvSpPr>
        <p:spPr>
          <a:xfrm>
            <a:off x="1467026" y="922848"/>
            <a:ext cx="1005840" cy="502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A5FCAC22-3FAC-CD10-4372-13DE655F5E95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52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694944"/>
            <a:ext cx="1005840" cy="502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1572768" cy="896112"/>
          </a:xfrm>
          <a:prstGeom prst="rect">
            <a:avLst/>
          </a:prstGeom>
          <a:solidFill>
            <a:srgbClr val="1B3A6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60120"/>
            <a:ext cx="157276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7472" y="1415857"/>
            <a:ext cx="157276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39112" y="896112"/>
            <a:ext cx="1572768" cy="896112"/>
          </a:xfrm>
          <a:prstGeom prst="rect">
            <a:avLst/>
          </a:prstGeom>
          <a:solidFill>
            <a:srgbClr val="1565C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39112" y="960120"/>
            <a:ext cx="157276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8,832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39112" y="1415857"/>
            <a:ext cx="157276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30752" y="896112"/>
            <a:ext cx="1572768" cy="896112"/>
          </a:xfrm>
          <a:prstGeom prst="rect">
            <a:avLst/>
          </a:prstGeom>
          <a:solidFill>
            <a:srgbClr val="00897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30752" y="960120"/>
            <a:ext cx="157276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30752" y="1415857"/>
            <a:ext cx="157276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22392" y="896112"/>
            <a:ext cx="1572768" cy="896112"/>
          </a:xfrm>
          <a:prstGeom prst="rect">
            <a:avLst/>
          </a:prstGeom>
          <a:solidFill>
            <a:srgbClr val="E6510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22392" y="960120"/>
            <a:ext cx="157276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422392" y="1415857"/>
            <a:ext cx="157276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objects/image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14032" y="896112"/>
            <a:ext cx="1572768" cy="896112"/>
          </a:xfrm>
          <a:prstGeom prst="rect">
            <a:avLst/>
          </a:prstGeom>
          <a:solidFill>
            <a:srgbClr val="1976D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14032" y="960120"/>
            <a:ext cx="1572768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1415857"/>
            <a:ext cx="1572768" cy="340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objects/image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1901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2231136"/>
          <a:ext cx="4114800" cy="18288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Motorbike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NoHelmet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PNumber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2" name="Chart 0"/>
          <p:cNvGraphicFramePr/>
          <p:nvPr/>
        </p:nvGraphicFramePr>
        <p:xfrm>
          <a:off x="4663440" y="1810512"/>
          <a:ext cx="4133088" cy="2395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19"/>
          <p:cNvSpPr/>
          <p:nvPr/>
        </p:nvSpPr>
        <p:spPr>
          <a:xfrm>
            <a:off x="347472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47472" y="4425696"/>
            <a:ext cx="1207008" cy="621792"/>
          </a:xfrm>
          <a:prstGeom prst="rect">
            <a:avLst/>
          </a:prstGeom>
          <a:solidFill>
            <a:srgbClr val="1B3A6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47472" y="4489704"/>
            <a:ext cx="120700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000" dirty="0"/>
          </a:p>
        </p:txBody>
      </p:sp>
      <p:sp>
        <p:nvSpPr>
          <p:cNvPr id="26" name="Text 22"/>
          <p:cNvSpPr/>
          <p:nvPr/>
        </p:nvSpPr>
        <p:spPr>
          <a:xfrm>
            <a:off x="347472" y="4786335"/>
            <a:ext cx="1207008" cy="23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2,021 images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1719072" y="4425696"/>
            <a:ext cx="1207008" cy="621792"/>
          </a:xfrm>
          <a:prstGeom prst="rect">
            <a:avLst/>
          </a:prstGeom>
          <a:solidFill>
            <a:srgbClr val="1565C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1719072" y="4489704"/>
            <a:ext cx="120700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000" dirty="0"/>
          </a:p>
        </p:txBody>
      </p:sp>
      <p:sp>
        <p:nvSpPr>
          <p:cNvPr id="29" name="Text 25"/>
          <p:cNvSpPr/>
          <p:nvPr/>
        </p:nvSpPr>
        <p:spPr>
          <a:xfrm>
            <a:off x="1719072" y="4786335"/>
            <a:ext cx="1207008" cy="23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433 images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090672" y="4425696"/>
            <a:ext cx="1207008" cy="621792"/>
          </a:xfrm>
          <a:prstGeom prst="rect">
            <a:avLst/>
          </a:prstGeom>
          <a:solidFill>
            <a:srgbClr val="00897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3090672" y="4489704"/>
            <a:ext cx="120700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000" dirty="0"/>
          </a:p>
        </p:txBody>
      </p:sp>
      <p:sp>
        <p:nvSpPr>
          <p:cNvPr id="32" name="Text 28"/>
          <p:cNvSpPr/>
          <p:nvPr/>
        </p:nvSpPr>
        <p:spPr>
          <a:xfrm>
            <a:off x="3090672" y="4786335"/>
            <a:ext cx="1207008" cy="236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433 images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8321040" y="49194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14A3-DA47-677D-E93C-C8B15590D7DD}"/>
              </a:ext>
            </a:extLst>
          </p:cNvPr>
          <p:cNvSpPr txBox="1"/>
          <p:nvPr/>
        </p:nvSpPr>
        <p:spPr>
          <a:xfrm>
            <a:off x="679251" y="523146"/>
            <a:ext cx="6149442" cy="1755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1:    To improve model generalization</a:t>
            </a:r>
          </a:p>
          <a:p>
            <a:pPr>
              <a:lnSpc>
                <a:spcPct val="1500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data augmentation techniques such as brightness, HSV, scaling, and mix up.</a:t>
            </a:r>
          </a:p>
          <a:p>
            <a:pPr marL="214313" indent="-21431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dataset diversity by simulating different lighting and environmental conditions.</a:t>
            </a:r>
          </a:p>
          <a:p>
            <a:pPr algn="just">
              <a:lnSpc>
                <a:spcPct val="1500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DCFBF8-3AFF-4CE9-4926-2F8FFF69A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85" y="2022668"/>
            <a:ext cx="3760269" cy="252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6" descr="Output image">
            <a:extLst>
              <a:ext uri="{FF2B5EF4-FFF2-40B4-BE49-F238E27FC236}">
                <a16:creationId xmlns:a16="http://schemas.microsoft.com/office/drawing/2014/main" id="{48CBB264-D2A6-E387-DAFF-4CEF9E3F6F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245745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N" sz="13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90A28-75FF-C0FA-65F3-C881FD26A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879" y="1884358"/>
            <a:ext cx="3570979" cy="2801372"/>
          </a:xfrm>
          <a:prstGeom prst="rect">
            <a:avLst/>
          </a:prstGeom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F4B7FFEA-8C98-280A-A61F-02557D2B41C0}"/>
              </a:ext>
            </a:extLst>
          </p:cNvPr>
          <p:cNvSpPr/>
          <p:nvPr/>
        </p:nvSpPr>
        <p:spPr>
          <a:xfrm>
            <a:off x="787087" y="901798"/>
            <a:ext cx="842420" cy="502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15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Augmentation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694944"/>
            <a:ext cx="1005840" cy="5029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4133088" cy="1691640"/>
          </a:xfrm>
          <a:prstGeom prst="rect">
            <a:avLst/>
          </a:prstGeom>
          <a:solidFill>
            <a:srgbClr val="1B3A6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896112"/>
            <a:ext cx="4133088" cy="3474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923544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38404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all images → 960 × 960 pixels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normalization → [0, 1] range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annotation format: (class, xc, yc, w, h)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8  (Mosaic → 32 effective images/iter)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96112"/>
            <a:ext cx="4133088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896112"/>
            <a:ext cx="4133088" cy="347472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923544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TECHNIQUES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298448"/>
            <a:ext cx="384048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(p=1.0)  — 4 images stitched per sample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(p=0.062)  — blends two image pairs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jitter: H±2.2%  S±80.8%  V±40%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Erasing (p=0.4)  — simulates occlusion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" y="3081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5B1C98F-7DE9-E6DE-E2C1-5167B91EB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338" y="2789992"/>
            <a:ext cx="3880339" cy="2220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 — Reliable Small Object Detection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694944"/>
            <a:ext cx="1005840" cy="502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8449056" cy="411480"/>
          </a:xfrm>
          <a:prstGeom prst="rect">
            <a:avLst/>
          </a:prstGeom>
          <a:solidFill>
            <a:srgbClr val="F5F5F5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Scale Spectrum in Dataset (% of image area)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380744"/>
            <a:ext cx="3017051" cy="804672"/>
          </a:xfrm>
          <a:prstGeom prst="rect">
            <a:avLst/>
          </a:prstGeom>
          <a:solidFill>
            <a:srgbClr val="1B3A6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6435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MOTORBIKE  —  94.22% of image area  (868,377 px²)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71096" y="1499616"/>
            <a:ext cx="2286000" cy="457200"/>
          </a:xfrm>
          <a:prstGeom prst="rect">
            <a:avLst/>
          </a:prstGeom>
          <a:solidFill>
            <a:srgbClr val="1565C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46091" y="15526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 ~5%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2286000"/>
            <a:ext cx="914400" cy="256032"/>
          </a:xfrm>
          <a:prstGeom prst="rect">
            <a:avLst/>
          </a:prstGeom>
          <a:solidFill>
            <a:srgbClr val="E6510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2304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2267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0.004% of image  →  just 16 px² at 640×640 input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261872" y="2414016"/>
            <a:ext cx="109728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69748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Small Object Detection is Hard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3054096"/>
            <a:ext cx="265176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7472" y="3054096"/>
            <a:ext cx="2651760" cy="38404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30815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Spatial Detail Lost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351129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conv layer with stride 2 halves spatial dimensions — deep features lose position info for tiny objects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82112" y="3054096"/>
            <a:ext cx="265176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82112" y="3054096"/>
            <a:ext cx="2651760" cy="384048"/>
          </a:xfrm>
          <a:prstGeom prst="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73552" y="30815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Tiny Pixel Footprint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73552" y="351129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640×640, a plate is ~16 px — insufficient texture for CNN filters to learn discriminative features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16752" y="3054096"/>
            <a:ext cx="265176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16752" y="3054096"/>
            <a:ext cx="2651760" cy="384048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08192" y="30815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Our Fix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08192" y="351129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960×960 input a plate is ~36 </a:t>
            </a:r>
            <a:r>
              <a:rPr lang="en-US" sz="115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Coordinate Attention preserves spatial context  →  PNumber mAP jumps from 78.3% to 93.9%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408609A-E6B1-8E13-3CFA-9E2CA3275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250" y="713232"/>
            <a:ext cx="2829276" cy="20051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960×960? — Resolution Impact on Small Object Detection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694944"/>
            <a:ext cx="1005840" cy="502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Downsampling Destroys Tiny Objects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1188720" cy="1188720"/>
          </a:xfrm>
          <a:prstGeom prst="rect">
            <a:avLst/>
          </a:prstGeom>
          <a:solidFill>
            <a:srgbClr val="1565C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248716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960×960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81912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64792" y="1440180"/>
            <a:ext cx="777240" cy="777240"/>
          </a:xfrm>
          <a:prstGeom prst="rect">
            <a:avLst/>
          </a:prstGeom>
          <a:solidFill>
            <a:srgbClr val="1976D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64792" y="248716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÷8  →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120×120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87752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70632" y="1577340"/>
            <a:ext cx="502920" cy="502920"/>
          </a:xfrm>
          <a:prstGeom prst="rect">
            <a:avLst/>
          </a:prstGeom>
          <a:solidFill>
            <a:srgbClr val="00897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70632" y="248716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÷16 →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60×60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19272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02152" y="1668780"/>
            <a:ext cx="320040" cy="320040"/>
          </a:xfrm>
          <a:prstGeom prst="rect">
            <a:avLst/>
          </a:prstGeom>
          <a:solidFill>
            <a:srgbClr val="E6510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02152" y="248716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÷32 →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30×30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29443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feature map (highest res.) still has 120×120 cells at 960 input → each cell covers only 8px → license plates survive!</a:t>
            </a:r>
            <a:endParaRPr lang="en-US" sz="10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846320" y="868680"/>
          <a:ext cx="39319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296359" y="3856306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92608" y="3577766"/>
            <a:ext cx="2651760" cy="329184"/>
          </a:xfrm>
          <a:prstGeom prst="rect">
            <a:avLst/>
          </a:prstGeom>
          <a:solidFill>
            <a:srgbClr val="607D8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Text 18"/>
          <p:cNvSpPr/>
          <p:nvPr/>
        </p:nvSpPr>
        <p:spPr>
          <a:xfrm>
            <a:off x="438912" y="3593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640×640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38912" y="3894113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 Plate mAP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0166" y="41190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= ~16 px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38912" y="43799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but inaccurate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167107" y="3741420"/>
            <a:ext cx="2651760" cy="1059180"/>
          </a:xfrm>
          <a:prstGeom prst="rect">
            <a:avLst/>
          </a:prstGeom>
          <a:solidFill>
            <a:srgbClr val="00897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6" name="Shape 23"/>
          <p:cNvSpPr/>
          <p:nvPr/>
        </p:nvSpPr>
        <p:spPr>
          <a:xfrm>
            <a:off x="3167107" y="3470559"/>
            <a:ext cx="2651760" cy="329184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273552" y="35143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960×960  ✓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248700" y="3858065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93.9% Plate mAP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3238852" y="40553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= ~36 px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3258547" y="4271069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108192" y="33009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1280×1280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694944"/>
            <a:ext cx="1005840" cy="502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3950208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 Sizes at 960×960 Input: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" y="4261104"/>
            <a:ext cx="2651760" cy="731520"/>
          </a:xfrm>
          <a:prstGeom prst="rect">
            <a:avLst/>
          </a:prstGeom>
          <a:solidFill>
            <a:srgbClr val="1565C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" y="4297680"/>
            <a:ext cx="1097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120×120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4297680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small objects: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Helmets, License Plates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82112" y="4261104"/>
            <a:ext cx="2651760" cy="731520"/>
          </a:xfrm>
          <a:prstGeom prst="rect">
            <a:avLst/>
          </a:prstGeom>
          <a:solidFill>
            <a:srgbClr val="00897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73552" y="4297680"/>
            <a:ext cx="1097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 60×60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89120" y="4297680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medium objects: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Riders, Partial Bikes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16752" y="4261104"/>
            <a:ext cx="2651760" cy="731520"/>
          </a:xfrm>
          <a:prstGeom prst="rect">
            <a:avLst/>
          </a:prstGeom>
          <a:solidFill>
            <a:srgbClr val="1B3A6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08192" y="4297680"/>
            <a:ext cx="1097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 30×30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4297680"/>
            <a:ext cx="1371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large objects: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Motorbikes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884801C-1424-85DE-5C11-EDD5CB1A4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185" y="694944"/>
            <a:ext cx="3847887" cy="306379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EC06231-4035-2AEE-CD7A-E42BA3FD840A}"/>
              </a:ext>
            </a:extLst>
          </p:cNvPr>
          <p:cNvSpPr txBox="1"/>
          <p:nvPr/>
        </p:nvSpPr>
        <p:spPr>
          <a:xfrm>
            <a:off x="248529" y="1041210"/>
            <a:ext cx="8346831" cy="225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One-stage, anchor-free object detection model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objects at multiple scales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Backbone, Neck, and Head modules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 accuracy and real-time performance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Coordinate Attention to improve feature focus on important regions</a:t>
            </a:r>
          </a:p>
          <a:p>
            <a:pPr>
              <a:lnSpc>
                <a:spcPct val="20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𝐼𝑚𝑎𝑔𝑒→𝐵𝑎𝑐𝑘𝑏𝑜𝑛𝑒→𝑁𝑒𝑐𝑘→𝐻𝑒𝑎𝑑→𝐷𝑒𝑡𝑒𝑐𝑡𝑖𝑜𝑛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Attention Mechanism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694944"/>
            <a:ext cx="1005840" cy="5029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46634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896112"/>
            <a:ext cx="73152" cy="9326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9418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12064" y="120700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spatial information separately along the horizontal (X) and vertical (Y) axes — unlike standard channel attention that collapses spatial dimensions.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1920240"/>
            <a:ext cx="46634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" y="1920240"/>
            <a:ext cx="73152" cy="9326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" y="19659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12064" y="223113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exact spatial location of tiny objects. A license plate at the far corner of an image retains its coordinates through the attention output.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2944368"/>
            <a:ext cx="46634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2944368"/>
            <a:ext cx="73152" cy="9326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" y="2990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Placed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12064" y="325526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Inserted AFTER PANet feature fusion, BEFORE detection heads — focuses the network on relevant spatial regions while suppressing background.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" y="3968496"/>
            <a:ext cx="4663440" cy="9326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7472" y="3968496"/>
            <a:ext cx="73152" cy="9326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2064" y="40142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2064" y="427939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parameter and compute cost — net accuracy gain of +1.67% mAP with negligible inference time increase.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193792" y="896112"/>
            <a:ext cx="3611880" cy="4069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93792" y="896112"/>
            <a:ext cx="3611880" cy="3657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93792" y="9235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Module Flow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0" y="1335024"/>
            <a:ext cx="3017520" cy="457200"/>
          </a:xfrm>
          <a:prstGeom prst="rect">
            <a:avLst/>
          </a:prstGeom>
          <a:solidFill>
            <a:srgbClr val="1B3A6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0" y="13716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 Map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∈ R^(C×H×W)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12280" y="1792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74F"/>
                </a:solidFill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0" y="1901952"/>
            <a:ext cx="3017520" cy="457200"/>
          </a:xfrm>
          <a:prstGeom prst="rect">
            <a:avLst/>
          </a:prstGeom>
          <a:solidFill>
            <a:srgbClr val="1565C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0" y="19385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Pool  fh(x)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over height 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1228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74F"/>
                </a:solidFill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0" y="2468880"/>
            <a:ext cx="3017520" cy="457200"/>
          </a:xfrm>
          <a:prstGeom prst="rect">
            <a:avLst/>
          </a:prstGeom>
          <a:solidFill>
            <a:srgbClr val="00897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0" y="250545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Pool  fw(y)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over width W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1228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74F"/>
                </a:solidFill>
              </a:rPr>
              <a:t>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0" y="3035808"/>
            <a:ext cx="3017520" cy="457200"/>
          </a:xfrm>
          <a:prstGeom prst="rect">
            <a:avLst/>
          </a:prstGeom>
          <a:solidFill>
            <a:srgbClr val="1976D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0" y="3072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→ Conv1×1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Split → Sigmoid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12280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474F"/>
                </a:solidFill>
              </a:rPr>
              <a:t>↓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0" y="3602736"/>
            <a:ext cx="3017520" cy="457200"/>
          </a:xfrm>
          <a:prstGeom prst="rect">
            <a:avLst/>
          </a:prstGeom>
          <a:solidFill>
            <a:srgbClr val="F57C0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0" y="36393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Attention-Weighted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Feature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 — </a:t>
            </a:r>
            <a:r>
              <a:rPr lang="en-US" sz="2400" b="1" dirty="0" err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r>
              <a:rPr lang="en-US" sz="24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694944"/>
            <a:ext cx="1005840" cy="5029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8449056" cy="566928"/>
          </a:xfrm>
          <a:prstGeom prst="rect">
            <a:avLst/>
          </a:prstGeom>
          <a:solidFill>
            <a:srgbClr val="1B3A6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uses the Tree-structured Parzen Estimator (TPE) — a Bayesian method that models the search space and samples promising hyperparameter regions based on past trial results.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Hyperparameters Found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892808"/>
          <a:ext cx="5120640" cy="2560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Range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 (lr0)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[1×10⁻⁵, 1×10⁻³]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[0.80, 0.99]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Decay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[1×10⁻⁵, 1×10⁻²]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0.001361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Loss Weight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[5.0, 10.0]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[0.5, 1.5]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MixUp Probability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[0.0, 0.15]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HSV Saturation Gain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[0.0, 1.0]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50992" y="1572768"/>
            <a:ext cx="3154680" cy="290779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50992" y="1572768"/>
            <a:ext cx="3154680" cy="365760"/>
          </a:xfrm>
          <a:prstGeom prst="rect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50992" y="16002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Process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0" y="2011680"/>
            <a:ext cx="310896" cy="310896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60720" y="202996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44768" y="20116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Trials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095744" y="20116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optimization budget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760720" y="2468880"/>
            <a:ext cx="310896" cy="310896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14"/>
          <p:cNvSpPr/>
          <p:nvPr/>
        </p:nvSpPr>
        <p:spPr>
          <a:xfrm>
            <a:off x="5760720" y="248716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44768" y="24688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TPE Sampler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095744" y="24688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Bayesian-guided search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760720" y="2926080"/>
            <a:ext cx="310896" cy="310896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760720" y="294436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44768" y="29260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Pruning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095744" y="29260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underperforming trials early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760720" y="3383280"/>
            <a:ext cx="310896" cy="310896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760720" y="340156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144768" y="33832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095744" y="33832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mAP@0.5–0.95 on val set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760720" y="3840480"/>
            <a:ext cx="310896" cy="310896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760720" y="385876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144768" y="3840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7095744" y="384048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90.6% → 96.47%  (+5.87%)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 &amp; Evaluation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694944"/>
            <a:ext cx="1005840" cy="502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1444752" cy="804672"/>
          </a:xfrm>
          <a:prstGeom prst="rect">
            <a:avLst/>
          </a:prstGeom>
          <a:solidFill>
            <a:srgbClr val="1B3A6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4183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" y="134416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896112"/>
            <a:ext cx="1444752" cy="804672"/>
          </a:xfrm>
          <a:prstGeom prst="rect">
            <a:avLst/>
          </a:prstGeom>
          <a:solidFill>
            <a:srgbClr val="1565C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20240" y="94183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134416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93008" y="896112"/>
            <a:ext cx="1444752" cy="804672"/>
          </a:xfrm>
          <a:prstGeom prst="rect">
            <a:avLst/>
          </a:prstGeom>
          <a:solidFill>
            <a:srgbClr val="00897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93008" y="94183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960×960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93008" y="134416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1810512"/>
            <a:ext cx="1444752" cy="804672"/>
          </a:xfrm>
          <a:prstGeom prst="rect">
            <a:avLst/>
          </a:prstGeom>
          <a:solidFill>
            <a:srgbClr val="1976D2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185623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" y="225856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0240" y="1810512"/>
            <a:ext cx="1444752" cy="804672"/>
          </a:xfrm>
          <a:prstGeom prst="rect">
            <a:avLst/>
          </a:prstGeom>
          <a:solidFill>
            <a:srgbClr val="1B3A6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20240" y="185623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20240" y="225856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93008" y="1810512"/>
            <a:ext cx="1444752" cy="804672"/>
          </a:xfrm>
          <a:prstGeom prst="rect">
            <a:avLst/>
          </a:prstGeom>
          <a:solidFill>
            <a:srgbClr val="00897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93008" y="185623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93008" y="225856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Time (T4)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02352" y="8686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02352" y="1207008"/>
            <a:ext cx="37033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102352" y="1207008"/>
            <a:ext cx="64008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48656" y="12435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48656" y="14813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÷ (TP+FP)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67728" y="124358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 are the detections?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02352" y="1883664"/>
            <a:ext cx="37033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102352" y="1883664"/>
            <a:ext cx="64008" cy="60350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48656" y="19202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48656" y="215798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÷ (TP+FN)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67728" y="192024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fraction of real objects are found?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02352" y="2560320"/>
            <a:ext cx="37033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102352" y="2560320"/>
            <a:ext cx="64008" cy="6035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48656" y="25968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48656" y="28346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P-R curve, IoU≥0.5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967728" y="259689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detection accuracy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102352" y="3236976"/>
            <a:ext cx="37033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102352" y="3236976"/>
            <a:ext cx="64008" cy="60350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48656" y="32735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mAP@0.5–0.95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48656" y="351129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multi-threshold average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67728" y="327355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quality metric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102352" y="3913632"/>
            <a:ext cx="3703320" cy="60350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102352" y="3913632"/>
            <a:ext cx="64008" cy="603504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248656" y="39502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48656" y="41879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Per Second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967728" y="395020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performance measure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47472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Convergence  (Epoch 1 → Best at Epoch 26)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347472" y="3108960"/>
            <a:ext cx="1051560" cy="1417320"/>
          </a:xfrm>
          <a:prstGeom prst="rect">
            <a:avLst/>
          </a:prstGeom>
          <a:solidFill>
            <a:srgbClr val="1B3A6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7472" y="316382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Loss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47472" y="3511296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1.302 → 0.749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517904" y="3108960"/>
            <a:ext cx="1051560" cy="1417320"/>
          </a:xfrm>
          <a:prstGeom prst="rect">
            <a:avLst/>
          </a:prstGeom>
          <a:solidFill>
            <a:srgbClr val="1565C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517904" y="316382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Loss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517904" y="3511296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2.797 → 0.717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688336" y="3108960"/>
            <a:ext cx="1051560" cy="1417320"/>
          </a:xfrm>
          <a:prstGeom prst="rect">
            <a:avLst/>
          </a:prstGeom>
          <a:solidFill>
            <a:srgbClr val="00897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688336" y="316382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2688336" y="3511296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81.1% → 96.3%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858768" y="3108960"/>
            <a:ext cx="1051560" cy="1417320"/>
          </a:xfrm>
          <a:prstGeom prst="rect">
            <a:avLst/>
          </a:prstGeom>
          <a:solidFill>
            <a:srgbClr val="E6510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858768" y="316382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858768" y="3511296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74.6% → 92.9%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694944"/>
            <a:ext cx="1005840" cy="5029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896112"/>
            <a:ext cx="1920240" cy="1005840"/>
          </a:xfrm>
          <a:prstGeom prst="rect">
            <a:avLst/>
          </a:prstGeom>
          <a:solidFill>
            <a:srgbClr val="1B3A6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96012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96.47%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7472" y="1479499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(Overall)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95728" y="896112"/>
            <a:ext cx="1920240" cy="1005840"/>
          </a:xfrm>
          <a:prstGeom prst="rect">
            <a:avLst/>
          </a:prstGeom>
          <a:solidFill>
            <a:srgbClr val="1565C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95728" y="96012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395728" y="1479499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43984" y="896112"/>
            <a:ext cx="1920240" cy="1005840"/>
          </a:xfrm>
          <a:prstGeom prst="rect">
            <a:avLst/>
          </a:prstGeom>
          <a:solidFill>
            <a:srgbClr val="00897B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43984" y="960120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92.93%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43984" y="1479499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896112"/>
            <a:ext cx="2304288" cy="1005840"/>
          </a:xfrm>
          <a:prstGeom prst="rect">
            <a:avLst/>
          </a:prstGeom>
          <a:solidFill>
            <a:srgbClr val="E6510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960120"/>
            <a:ext cx="230428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FPS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92240" y="1479499"/>
            <a:ext cx="2304288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ms/frame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(NVIDIA T4)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47472" y="1993392"/>
          <a:ext cx="47548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5285232" y="19659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85232" y="2286000"/>
          <a:ext cx="3520440" cy="1828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Config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YOLOv8m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Data Augmentation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Optuna Tuning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747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Coord. Attention (Proposed)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822960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Applications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694944"/>
            <a:ext cx="1005840" cy="5029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32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achieves  22 FPS  (45 ms/frame)  on NVIDIA T4 Tensor Core GPU — suitable for live camera monitoring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02920" y="3950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D6637F14-CF96-0545-56DB-F2BB2CE41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7" y="993979"/>
            <a:ext cx="4475167" cy="375363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1565C0">
              <a:alpha val="4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74320" y="3657600"/>
            <a:ext cx="1828800" cy="1828800"/>
          </a:xfrm>
          <a:prstGeom prst="ellipse">
            <a:avLst/>
          </a:prstGeom>
          <a:solidFill>
            <a:srgbClr val="1976D2">
              <a:alpha val="40000"/>
            </a:srgbClr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82880"/>
            <a:ext cx="8449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749808"/>
            <a:ext cx="1097280" cy="5029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9144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261872"/>
            <a:ext cx="4681728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96.47% mAP@0.5  with 94.42% Precision and 92.93% Recall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22 FPS real-time performance on NVIDIA T4 GPU (45 ms/frame)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Attention raises PNumber mAP from 78.3% → 93.9%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Optuna tuning contributes +5.87% accuracy over baseline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960×960 input provides optimal accuracy-efficiency tradeoff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4-class detection: Bike + Helmet + NoHelmet + Plate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93792" y="914400"/>
            <a:ext cx="3611880" cy="1664208"/>
          </a:xfrm>
          <a:prstGeom prst="rect">
            <a:avLst/>
          </a:prstGeom>
          <a:solidFill>
            <a:srgbClr val="1E3A5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5193792" y="96926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21808" y="1298448"/>
            <a:ext cx="3364992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traffic dataset — may not generalize to Western roads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cases in extreme glare, blur, and long distances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Plates &lt;10 px remain a detection boundary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93792" y="2688336"/>
            <a:ext cx="3611880" cy="2011680"/>
          </a:xfrm>
          <a:prstGeom prst="rect">
            <a:avLst/>
          </a:prstGeom>
          <a:solidFill>
            <a:srgbClr val="1E3A5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93792" y="27432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21808" y="3090672"/>
            <a:ext cx="3364992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integration for automated e-challan generation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and adverse weather robustness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Cross-regional dataset expansion &amp; re-validation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 deployment (Jetson Nano, Raspberry Pi)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to 4-wheelers and pedestrian safety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github.com/rohithredddy/HelmetCompliance-and-License-Plate-Detection  ·  RGMCET, Nandyal  ·  Dept. of CSE (Data Science)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1924</Words>
  <Application>Microsoft Office PowerPoint</Application>
  <PresentationFormat>On-screen Show (16:9)</PresentationFormat>
  <Paragraphs>389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Helmet Compliance and License Plate Detection</dc:title>
  <dc:subject>PptxGenJS Presentation</dc:subject>
  <dc:creator>PptxGenJS</dc:creator>
  <cp:lastModifiedBy>Veera Rohith Reddy</cp:lastModifiedBy>
  <cp:revision>20</cp:revision>
  <dcterms:created xsi:type="dcterms:W3CDTF">2026-04-07T04:39:57Z</dcterms:created>
  <dcterms:modified xsi:type="dcterms:W3CDTF">2026-04-08T05:08:08Z</dcterms:modified>
</cp:coreProperties>
</file>