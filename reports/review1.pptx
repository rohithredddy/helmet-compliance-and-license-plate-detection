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sldIdLst>
    <p:sldId id="257" r:id="rId2"/>
    <p:sldId id="276" r:id="rId3"/>
    <p:sldId id="258" r:id="rId4"/>
    <p:sldId id="260" r:id="rId5"/>
    <p:sldId id="261" r:id="rId6"/>
    <p:sldId id="270" r:id="rId7"/>
    <p:sldId id="277" r:id="rId8"/>
    <p:sldId id="278" r:id="rId9"/>
    <p:sldId id="279" r:id="rId10"/>
    <p:sldId id="263" r:id="rId11"/>
    <p:sldId id="265" r:id="rId12"/>
    <p:sldId id="280" r:id="rId13"/>
    <p:sldId id="281" r:id="rId14"/>
    <p:sldId id="282" r:id="rId15"/>
    <p:sldId id="283" r:id="rId16"/>
    <p:sldId id="284" r:id="rId17"/>
    <p:sldId id="285" r:id="rId18"/>
    <p:sldId id="286" r:id="rId19"/>
    <p:sldId id="273" r:id="rId20"/>
    <p:sldId id="28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okesh Arla" initials="LA" lastIdx="1" clrIdx="0">
    <p:extLst>
      <p:ext uri="{19B8F6BF-5375-455C-9EA6-DF929625EA0E}">
        <p15:presenceInfo xmlns:p15="http://schemas.microsoft.com/office/powerpoint/2012/main" userId="7904da13507bdf6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77" autoAdjust="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6"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4" y="4206876"/>
            <a:ext cx="9228201" cy="1645920"/>
          </a:xfrm>
        </p:spPr>
        <p:txBody>
          <a:bodyPr>
            <a:normAutofit/>
          </a:bodyPr>
          <a:lstStyle>
            <a:lvl1pPr marL="0" indent="0" algn="l">
              <a:buNone/>
              <a:defRPr sz="3200">
                <a:solidFill>
                  <a:schemeClr val="bg1"/>
                </a:solidFill>
                <a:latin typeface="+mj-lt"/>
              </a:defRPr>
            </a:lvl1pPr>
            <a:lvl2pPr marL="457189" indent="0" algn="ctr">
              <a:buNone/>
              <a:defRPr sz="2800"/>
            </a:lvl2pPr>
            <a:lvl3pPr marL="914377" indent="0" algn="ctr">
              <a:buNone/>
              <a:defRPr sz="2400"/>
            </a:lvl3pPr>
            <a:lvl4pPr marL="1371566" indent="0" algn="ctr">
              <a:buNone/>
              <a:defRPr sz="2000"/>
            </a:lvl4pPr>
            <a:lvl5pPr marL="1828754" indent="0" algn="ctr">
              <a:buNone/>
              <a:defRPr sz="2000"/>
            </a:lvl5pPr>
            <a:lvl6pPr marL="2285943" indent="0" algn="ctr">
              <a:buNone/>
              <a:defRPr sz="2000"/>
            </a:lvl6pPr>
            <a:lvl7pPr marL="2743131" indent="0" algn="ctr">
              <a:buNone/>
              <a:defRPr sz="2000"/>
            </a:lvl7pPr>
            <a:lvl8pPr marL="3200320" indent="0" algn="ctr">
              <a:buNone/>
              <a:defRPr sz="2000"/>
            </a:lvl8pPr>
            <a:lvl9pPr marL="3657509"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1284E21D-24A6-4DBB-909A-112C34AE6165}" type="datetimeFigureOut">
              <a:rPr lang="en-IN" smtClean="0"/>
              <a:t>22-02-2026</a:t>
            </a:fld>
            <a:endParaRPr lang="en-IN"/>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DC42B0F5-808D-4B13-9B04-E9105B9C03F1}" type="slidenum">
              <a:rPr lang="en-IN" smtClean="0"/>
              <a:t>‹#›</a:t>
            </a:fld>
            <a:endParaRPr lang="en-IN"/>
          </a:p>
        </p:txBody>
      </p:sp>
    </p:spTree>
    <p:extLst>
      <p:ext uri="{BB962C8B-B14F-4D97-AF65-F5344CB8AC3E}">
        <p14:creationId xmlns:p14="http://schemas.microsoft.com/office/powerpoint/2010/main" val="2373877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84E21D-24A6-4DBB-909A-112C34AE6165}"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42B0F5-808D-4B13-9B04-E9105B9C03F1}" type="slidenum">
              <a:rPr lang="en-IN" smtClean="0"/>
              <a:t>‹#›</a:t>
            </a:fld>
            <a:endParaRPr lang="en-IN"/>
          </a:p>
        </p:txBody>
      </p:sp>
    </p:spTree>
    <p:extLst>
      <p:ext uri="{BB962C8B-B14F-4D97-AF65-F5344CB8AC3E}">
        <p14:creationId xmlns:p14="http://schemas.microsoft.com/office/powerpoint/2010/main" val="889581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84E21D-24A6-4DBB-909A-112C34AE6165}"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42B0F5-808D-4B13-9B04-E9105B9C03F1}" type="slidenum">
              <a:rPr lang="en-IN" smtClean="0"/>
              <a:t>‹#›</a:t>
            </a:fld>
            <a:endParaRPr lang="en-IN"/>
          </a:p>
        </p:txBody>
      </p:sp>
    </p:spTree>
    <p:extLst>
      <p:ext uri="{BB962C8B-B14F-4D97-AF65-F5344CB8AC3E}">
        <p14:creationId xmlns:p14="http://schemas.microsoft.com/office/powerpoint/2010/main" val="3442294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1"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284E21D-24A6-4DBB-909A-112C34AE6165}"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42B0F5-808D-4B13-9B04-E9105B9C03F1}" type="slidenum">
              <a:rPr lang="en-IN" smtClean="0"/>
              <a:t>‹#›</a:t>
            </a:fld>
            <a:endParaRPr lang="en-IN"/>
          </a:p>
        </p:txBody>
      </p:sp>
    </p:spTree>
    <p:extLst>
      <p:ext uri="{BB962C8B-B14F-4D97-AF65-F5344CB8AC3E}">
        <p14:creationId xmlns:p14="http://schemas.microsoft.com/office/powerpoint/2010/main" val="2123120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284E21D-24A6-4DBB-909A-112C34AE6165}" type="datetimeFigureOut">
              <a:rPr lang="en-IN" smtClean="0"/>
              <a:t>22-02-2026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C42B0F5-808D-4B13-9B04-E9105B9C03F1}" type="slidenum">
              <a:rPr lang="en-IN" smtClean="0"/>
              <a:t>‹#›</a:t>
            </a:fld>
            <a:endParaRPr lang="en-IN"/>
          </a:p>
        </p:txBody>
      </p:sp>
    </p:spTree>
    <p:extLst>
      <p:ext uri="{BB962C8B-B14F-4D97-AF65-F5344CB8AC3E}">
        <p14:creationId xmlns:p14="http://schemas.microsoft.com/office/powerpoint/2010/main" val="345245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284E21D-24A6-4DBB-909A-112C34AE6165}" type="datetimeFigureOut">
              <a:rPr lang="en-IN" smtClean="0"/>
              <a:t>22-02-2026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C42B0F5-808D-4B13-9B04-E9105B9C03F1}" type="slidenum">
              <a:rPr lang="en-IN" smtClean="0"/>
              <a:t>‹#›</a:t>
            </a:fld>
            <a:endParaRPr lang="en-IN"/>
          </a:p>
        </p:txBody>
      </p:sp>
    </p:spTree>
    <p:extLst>
      <p:ext uri="{BB962C8B-B14F-4D97-AF65-F5344CB8AC3E}">
        <p14:creationId xmlns:p14="http://schemas.microsoft.com/office/powerpoint/2010/main" val="672758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84E21D-24A6-4DBB-909A-112C34AE6165}" type="datetimeFigureOut">
              <a:rPr lang="en-IN" smtClean="0"/>
              <a:t>22-02-2026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C42B0F5-808D-4B13-9B04-E9105B9C03F1}" type="slidenum">
              <a:rPr lang="en-IN" smtClean="0"/>
              <a:t>‹#›</a:t>
            </a:fld>
            <a:endParaRPr lang="en-IN"/>
          </a:p>
        </p:txBody>
      </p:sp>
    </p:spTree>
    <p:extLst>
      <p:ext uri="{BB962C8B-B14F-4D97-AF65-F5344CB8AC3E}">
        <p14:creationId xmlns:p14="http://schemas.microsoft.com/office/powerpoint/2010/main" val="566739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3" y="2511813"/>
            <a:ext cx="3398520" cy="3126987"/>
          </a:xfrm>
        </p:spPr>
        <p:txBody>
          <a:bodyPr>
            <a:normAutofit/>
          </a:bodyPr>
          <a:lstStyle>
            <a:lvl1pPr marL="0" marR="0" indent="0" algn="l" defTabSz="914377" rtl="0" eaLnBrk="1" fontAlgn="auto" latinLnBrk="0" hangingPunct="1">
              <a:lnSpc>
                <a:spcPct val="100000"/>
              </a:lnSpc>
              <a:spcBef>
                <a:spcPts val="1200"/>
              </a:spcBef>
              <a:spcAft>
                <a:spcPts val="0"/>
              </a:spcAft>
              <a:buClrTx/>
              <a:buSzTx/>
              <a:buFontTx/>
              <a:buNone/>
              <a:tabLst/>
              <a:defRPr sz="1800">
                <a:solidFill>
                  <a:srgbClr val="262626"/>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marL="0" marR="0" lvl="0" indent="0" algn="l" defTabSz="914377"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1284E21D-24A6-4DBB-909A-112C34AE6165}" type="datetimeFigureOut">
              <a:rPr lang="en-IN" smtClean="0"/>
              <a:t>22-02-2026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DC42B0F5-808D-4B13-9B04-E9105B9C03F1}" type="slidenum">
              <a:rPr lang="en-IN" smtClean="0"/>
              <a:t>‹#›</a:t>
            </a:fld>
            <a:endParaRPr lang="en-IN"/>
          </a:p>
        </p:txBody>
      </p:sp>
    </p:spTree>
    <p:extLst>
      <p:ext uri="{BB962C8B-B14F-4D97-AF65-F5344CB8AC3E}">
        <p14:creationId xmlns:p14="http://schemas.microsoft.com/office/powerpoint/2010/main" val="2478377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71"/>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1284E21D-24A6-4DBB-909A-112C34AE6165}" type="datetimeFigureOut">
              <a:rPr lang="en-IN" smtClean="0"/>
              <a:t>22-02-2026</a:t>
            </a:fld>
            <a:endParaRPr lang="en-IN"/>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IN"/>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DC42B0F5-808D-4B13-9B04-E9105B9C03F1}" type="slidenum">
              <a:rPr lang="en-IN" smtClean="0"/>
              <a:t>‹#›</a:t>
            </a:fld>
            <a:endParaRPr lang="en-IN"/>
          </a:p>
        </p:txBody>
      </p:sp>
    </p:spTree>
    <p:extLst>
      <p:ext uri="{BB962C8B-B14F-4D97-AF65-F5344CB8AC3E}">
        <p14:creationId xmlns:p14="http://schemas.microsoft.com/office/powerpoint/2010/main" val="3555797592"/>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84E21D-24A6-4DBB-909A-112C34AE6165}"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42B0F5-808D-4B13-9B04-E9105B9C03F1}" type="slidenum">
              <a:rPr lang="en-IN" smtClean="0"/>
              <a:t>‹#›</a:t>
            </a:fld>
            <a:endParaRPr lang="en-IN"/>
          </a:p>
        </p:txBody>
      </p:sp>
    </p:spTree>
    <p:extLst>
      <p:ext uri="{BB962C8B-B14F-4D97-AF65-F5344CB8AC3E}">
        <p14:creationId xmlns:p14="http://schemas.microsoft.com/office/powerpoint/2010/main" val="1183812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1"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6" y="714379"/>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84E21D-24A6-4DBB-909A-112C34AE6165}" type="datetimeFigureOut">
              <a:rPr lang="en-IN" smtClean="0"/>
              <a:t>22-02-2026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42B0F5-808D-4B13-9B04-E9105B9C03F1}" type="slidenum">
              <a:rPr lang="en-IN" smtClean="0"/>
              <a:t>‹#›</a:t>
            </a:fld>
            <a:endParaRPr lang="en-IN"/>
          </a:p>
        </p:txBody>
      </p:sp>
    </p:spTree>
    <p:extLst>
      <p:ext uri="{BB962C8B-B14F-4D97-AF65-F5344CB8AC3E}">
        <p14:creationId xmlns:p14="http://schemas.microsoft.com/office/powerpoint/2010/main" val="3113364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7"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1">
                <a:solidFill>
                  <a:schemeClr val="tx1">
                    <a:alpha val="80000"/>
                  </a:schemeClr>
                </a:solidFill>
              </a:defRPr>
            </a:lvl1pPr>
          </a:lstStyle>
          <a:p>
            <a:fld id="{1284E21D-24A6-4DBB-909A-112C34AE6165}" type="datetimeFigureOut">
              <a:rPr lang="en-IN" smtClean="0"/>
              <a:t>22-02-2026</a:t>
            </a:fld>
            <a:endParaRPr lang="en-IN"/>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1" cap="all" baseline="0">
                <a:solidFill>
                  <a:schemeClr val="tx1">
                    <a:alpha val="80000"/>
                  </a:schemeClr>
                </a:solidFill>
              </a:defRPr>
            </a:lvl1pPr>
          </a:lstStyle>
          <a:p>
            <a:endParaRPr lang="en-IN"/>
          </a:p>
        </p:txBody>
      </p:sp>
      <p:sp>
        <p:nvSpPr>
          <p:cNvPr id="6" name="Slide Number Placeholder 5"/>
          <p:cNvSpPr>
            <a:spLocks noGrp="1"/>
          </p:cNvSpPr>
          <p:nvPr>
            <p:ph type="sldNum" sz="quarter" idx="4"/>
          </p:nvPr>
        </p:nvSpPr>
        <p:spPr>
          <a:xfrm>
            <a:off x="8763927" y="5876416"/>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DC42B0F5-808D-4B13-9B04-E9105B9C03F1}" type="slidenum">
              <a:rPr lang="en-IN" smtClean="0"/>
              <a:t>‹#›</a:t>
            </a:fld>
            <a:endParaRPr lang="en-IN"/>
          </a:p>
        </p:txBody>
      </p:sp>
    </p:spTree>
    <p:extLst>
      <p:ext uri="{BB962C8B-B14F-4D97-AF65-F5344CB8AC3E}">
        <p14:creationId xmlns:p14="http://schemas.microsoft.com/office/powerpoint/2010/main" val="2459127081"/>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377"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38" indent="-91438" algn="l" defTabSz="914377"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63" indent="-342891" algn="l" defTabSz="914377"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26" indent="-548626" algn="l" defTabSz="914377"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39" indent="-822939" algn="l" defTabSz="914377"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53" indent="-1097253" algn="l" defTabSz="914377"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199970" indent="-228594" algn="l" defTabSz="914377"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399965" indent="-228594" algn="l" defTabSz="914377"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599960" indent="-228594" algn="l" defTabSz="914377"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799955" indent="-228594" algn="l" defTabSz="914377"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universe.roboflow.com/hele/helmet-detection-nsbwm-ftr3v/dataset/4"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6A7201-B7D5-91B0-0A0B-4EEDCAB94E34}"/>
              </a:ext>
            </a:extLst>
          </p:cNvPr>
          <p:cNvSpPr txBox="1"/>
          <p:nvPr/>
        </p:nvSpPr>
        <p:spPr>
          <a:xfrm>
            <a:off x="3070747" y="1624084"/>
            <a:ext cx="6277971" cy="369332"/>
          </a:xfrm>
          <a:prstGeom prst="rect">
            <a:avLst/>
          </a:prstGeom>
          <a:noFill/>
        </p:spPr>
        <p:txBody>
          <a:bodyPr wrap="square" rtlCol="0">
            <a:spAutoFit/>
          </a:bodyPr>
          <a:lstStyle/>
          <a:p>
            <a:r>
              <a:rPr lang="en-IN" dirty="0"/>
              <a:t>REVIEW-1</a:t>
            </a:r>
          </a:p>
        </p:txBody>
      </p:sp>
    </p:spTree>
    <p:extLst>
      <p:ext uri="{BB962C8B-B14F-4D97-AF65-F5344CB8AC3E}">
        <p14:creationId xmlns:p14="http://schemas.microsoft.com/office/powerpoint/2010/main" val="3150626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663926-318E-C25B-D13D-7171736FCC82}"/>
              </a:ext>
            </a:extLst>
          </p:cNvPr>
          <p:cNvPicPr>
            <a:picLocks noChangeAspect="1"/>
          </p:cNvPicPr>
          <p:nvPr/>
        </p:nvPicPr>
        <p:blipFill>
          <a:blip r:embed="rId2"/>
          <a:stretch>
            <a:fillRect/>
          </a:stretch>
        </p:blipFill>
        <p:spPr>
          <a:xfrm>
            <a:off x="1682742" y="535530"/>
            <a:ext cx="7980356" cy="1255885"/>
          </a:xfrm>
          <a:prstGeom prst="rect">
            <a:avLst/>
          </a:prstGeom>
        </p:spPr>
      </p:pic>
      <p:sp>
        <p:nvSpPr>
          <p:cNvPr id="4" name="TextBox 3">
            <a:extLst>
              <a:ext uri="{FF2B5EF4-FFF2-40B4-BE49-F238E27FC236}">
                <a16:creationId xmlns:a16="http://schemas.microsoft.com/office/drawing/2014/main" id="{508D1748-328F-6957-5643-AD92B81EDF61}"/>
              </a:ext>
            </a:extLst>
          </p:cNvPr>
          <p:cNvSpPr txBox="1"/>
          <p:nvPr/>
        </p:nvSpPr>
        <p:spPr>
          <a:xfrm>
            <a:off x="1682744" y="2224586"/>
            <a:ext cx="8703205" cy="369332"/>
          </a:xfrm>
          <a:prstGeom prst="rect">
            <a:avLst/>
          </a:prstGeom>
          <a:noFill/>
        </p:spPr>
        <p:txBody>
          <a:bodyPr wrap="square" rtlCol="0">
            <a:spAutoFit/>
          </a:bodyPr>
          <a:lstStyle/>
          <a:p>
            <a:r>
              <a:rPr lang="en-IN" dirty="0"/>
              <a:t>A deep learning framework for helmet detection and number plate recognition</a:t>
            </a:r>
          </a:p>
        </p:txBody>
      </p:sp>
      <p:sp>
        <p:nvSpPr>
          <p:cNvPr id="5" name="TextBox 4">
            <a:extLst>
              <a:ext uri="{FF2B5EF4-FFF2-40B4-BE49-F238E27FC236}">
                <a16:creationId xmlns:a16="http://schemas.microsoft.com/office/drawing/2014/main" id="{FAEB7D75-A978-3B7B-85A6-DE0DF9E06579}"/>
              </a:ext>
            </a:extLst>
          </p:cNvPr>
          <p:cNvSpPr txBox="1"/>
          <p:nvPr/>
        </p:nvSpPr>
        <p:spPr>
          <a:xfrm>
            <a:off x="1682743" y="3125337"/>
            <a:ext cx="4413259" cy="923330"/>
          </a:xfrm>
          <a:prstGeom prst="rect">
            <a:avLst/>
          </a:prstGeom>
          <a:noFill/>
        </p:spPr>
        <p:txBody>
          <a:bodyPr wrap="square" rtlCol="0">
            <a:spAutoFit/>
          </a:bodyPr>
          <a:lstStyle/>
          <a:p>
            <a:r>
              <a:rPr lang="en-IN" dirty="0"/>
              <a:t>Project Supervisor</a:t>
            </a:r>
          </a:p>
          <a:p>
            <a:r>
              <a:rPr lang="en-IN" dirty="0"/>
              <a:t>Dr. P. </a:t>
            </a:r>
            <a:r>
              <a:rPr lang="en-IN" dirty="0" err="1"/>
              <a:t>Penchal</a:t>
            </a:r>
            <a:r>
              <a:rPr lang="en-IN" dirty="0"/>
              <a:t> Prasad</a:t>
            </a:r>
          </a:p>
          <a:p>
            <a:r>
              <a:rPr lang="en-IN" dirty="0"/>
              <a:t>Associate Professor CSE(DS)</a:t>
            </a:r>
          </a:p>
        </p:txBody>
      </p:sp>
      <p:sp>
        <p:nvSpPr>
          <p:cNvPr id="7" name="TextBox 6">
            <a:extLst>
              <a:ext uri="{FF2B5EF4-FFF2-40B4-BE49-F238E27FC236}">
                <a16:creationId xmlns:a16="http://schemas.microsoft.com/office/drawing/2014/main" id="{B614CF48-A184-52D3-72B9-6DC794BC99E4}"/>
              </a:ext>
            </a:extLst>
          </p:cNvPr>
          <p:cNvSpPr txBox="1"/>
          <p:nvPr/>
        </p:nvSpPr>
        <p:spPr>
          <a:xfrm>
            <a:off x="7465327" y="3125339"/>
            <a:ext cx="3548419" cy="1200329"/>
          </a:xfrm>
          <a:prstGeom prst="rect">
            <a:avLst/>
          </a:prstGeom>
          <a:noFill/>
        </p:spPr>
        <p:txBody>
          <a:bodyPr wrap="square" rtlCol="0">
            <a:spAutoFit/>
          </a:bodyPr>
          <a:lstStyle/>
          <a:p>
            <a:r>
              <a:rPr lang="en-IN" dirty="0"/>
              <a:t>Team members</a:t>
            </a:r>
            <a:br>
              <a:rPr lang="en-IN" dirty="0"/>
            </a:br>
            <a:r>
              <a:rPr lang="en-IN" dirty="0"/>
              <a:t>M. V. Rohith Reddy-22091A32G0</a:t>
            </a:r>
          </a:p>
          <a:p>
            <a:r>
              <a:rPr lang="en-IN" dirty="0"/>
              <a:t>P. Bhargavi-23095A3204</a:t>
            </a:r>
          </a:p>
          <a:p>
            <a:r>
              <a:rPr lang="en-IN" dirty="0"/>
              <a:t>A. Srujana-22091A32E7</a:t>
            </a:r>
          </a:p>
        </p:txBody>
      </p:sp>
    </p:spTree>
    <p:extLst>
      <p:ext uri="{BB962C8B-B14F-4D97-AF65-F5344CB8AC3E}">
        <p14:creationId xmlns:p14="http://schemas.microsoft.com/office/powerpoint/2010/main" val="1649804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79D93C-722B-5722-ACB6-8AF41B1C0087}"/>
              </a:ext>
            </a:extLst>
          </p:cNvPr>
          <p:cNvSpPr txBox="1"/>
          <p:nvPr/>
        </p:nvSpPr>
        <p:spPr>
          <a:xfrm>
            <a:off x="1008668" y="659876"/>
            <a:ext cx="5486400"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Abstract</a:t>
            </a:r>
          </a:p>
        </p:txBody>
      </p:sp>
      <p:sp>
        <p:nvSpPr>
          <p:cNvPr id="3" name="TextBox 2">
            <a:extLst>
              <a:ext uri="{FF2B5EF4-FFF2-40B4-BE49-F238E27FC236}">
                <a16:creationId xmlns:a16="http://schemas.microsoft.com/office/drawing/2014/main" id="{868948BD-33D7-7255-380B-136B86B0F41A}"/>
              </a:ext>
            </a:extLst>
          </p:cNvPr>
          <p:cNvSpPr txBox="1"/>
          <p:nvPr/>
        </p:nvSpPr>
        <p:spPr>
          <a:xfrm>
            <a:off x="1084083" y="2139886"/>
            <a:ext cx="8597247" cy="147732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AI-based traffic violation detection system for real-time helmet detection and automatic number plate recognition. Using deep learning and computer vision techniques, the system identifies violations, captures evidence, and enables automated enforcement. The solution improves traffic monitoring efficiency and supports intelligent urban traffic management.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3526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0038A-74BE-E940-3621-2C43A67B2C39}"/>
              </a:ext>
            </a:extLst>
          </p:cNvPr>
          <p:cNvSpPr>
            <a:spLocks noGrp="1"/>
          </p:cNvSpPr>
          <p:nvPr>
            <p:ph type="title"/>
          </p:nvPr>
        </p:nvSpPr>
        <p:spPr>
          <a:xfrm>
            <a:off x="838200" y="365126"/>
            <a:ext cx="9144787" cy="1162017"/>
          </a:xfrm>
        </p:spPr>
        <p:txBody>
          <a:bodyPr/>
          <a:lstStyle/>
          <a:p>
            <a:r>
              <a:rPr lang="en-IN" dirty="0"/>
              <a:t>Introduction</a:t>
            </a:r>
          </a:p>
        </p:txBody>
      </p:sp>
      <p:sp>
        <p:nvSpPr>
          <p:cNvPr id="3" name="Content Placeholder 2">
            <a:extLst>
              <a:ext uri="{FF2B5EF4-FFF2-40B4-BE49-F238E27FC236}">
                <a16:creationId xmlns:a16="http://schemas.microsoft.com/office/drawing/2014/main" id="{ECF17A8D-CDFF-6CCD-D621-6FD4FAD516E1}"/>
              </a:ext>
            </a:extLst>
          </p:cNvPr>
          <p:cNvSpPr>
            <a:spLocks noGrp="1"/>
          </p:cNvSpPr>
          <p:nvPr>
            <p:ph idx="1"/>
          </p:nvPr>
        </p:nvSpPr>
        <p:spPr>
          <a:xfrm>
            <a:off x="838200" y="1825625"/>
            <a:ext cx="9144787" cy="3943579"/>
          </a:xfrm>
        </p:spPr>
        <p:txBody>
          <a:bodyPr>
            <a:normAutofit/>
          </a:bodyPr>
          <a:lstStyle/>
          <a:p>
            <a:pPr marL="0" indent="0">
              <a:buNone/>
            </a:pPr>
            <a:r>
              <a:rPr lang="en-US" sz="1900" b="1" dirty="0"/>
              <a:t>Traffic Safety Overview</a:t>
            </a:r>
          </a:p>
          <a:p>
            <a:r>
              <a:rPr lang="en-US" sz="1900" dirty="0"/>
              <a:t>Increasing two-wheeler usage has intensified road safety concerns, particularly due to helmet non-compliance.</a:t>
            </a:r>
          </a:p>
          <a:p>
            <a:r>
              <a:rPr lang="en-US" sz="1900" dirty="0"/>
              <a:t>Manual traffic monitoring systems lack scalability and real-time enforcement capability.</a:t>
            </a:r>
          </a:p>
          <a:p>
            <a:pPr marL="0" indent="0">
              <a:buNone/>
            </a:pPr>
            <a:r>
              <a:rPr lang="en-US" sz="1900" b="1" dirty="0"/>
              <a:t>Proposed Solution: AI-Based Traffic Violation Detection System</a:t>
            </a:r>
          </a:p>
          <a:p>
            <a:r>
              <a:rPr lang="en-US" sz="1900" dirty="0"/>
              <a:t>Developed an intelligent system for real-time helmet detection and automatic number plate recognition using deep learning techniques.</a:t>
            </a:r>
          </a:p>
          <a:p>
            <a:r>
              <a:rPr lang="en-US" sz="1900" dirty="0"/>
              <a:t>Enables automated violation identification, evidence capture, and efficient digital enforcement.</a:t>
            </a:r>
          </a:p>
          <a:p>
            <a:pPr marL="0" indent="0">
              <a:buNone/>
            </a:pPr>
            <a:endParaRPr lang="en-IN" dirty="0"/>
          </a:p>
        </p:txBody>
      </p:sp>
    </p:spTree>
    <p:extLst>
      <p:ext uri="{BB962C8B-B14F-4D97-AF65-F5344CB8AC3E}">
        <p14:creationId xmlns:p14="http://schemas.microsoft.com/office/powerpoint/2010/main" val="1820334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8D34B-698C-8258-76AC-E33146B0442C}"/>
              </a:ext>
            </a:extLst>
          </p:cNvPr>
          <p:cNvSpPr>
            <a:spLocks noGrp="1"/>
          </p:cNvSpPr>
          <p:nvPr>
            <p:ph type="title"/>
          </p:nvPr>
        </p:nvSpPr>
        <p:spPr/>
        <p:txBody>
          <a:bodyPr/>
          <a:lstStyle/>
          <a:p>
            <a:r>
              <a:rPr lang="en-IN" dirty="0"/>
              <a:t>Individual contributions</a:t>
            </a:r>
          </a:p>
        </p:txBody>
      </p:sp>
      <p:sp>
        <p:nvSpPr>
          <p:cNvPr id="3" name="Content Placeholder 2">
            <a:extLst>
              <a:ext uri="{FF2B5EF4-FFF2-40B4-BE49-F238E27FC236}">
                <a16:creationId xmlns:a16="http://schemas.microsoft.com/office/drawing/2014/main" id="{86CC0D85-96A6-75C7-C21D-AEB02950723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722713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57B393-7E73-D9D8-5808-8F238A67F4C9}"/>
              </a:ext>
            </a:extLst>
          </p:cNvPr>
          <p:cNvSpPr txBox="1"/>
          <p:nvPr/>
        </p:nvSpPr>
        <p:spPr>
          <a:xfrm>
            <a:off x="1065230" y="603315"/>
            <a:ext cx="3940404" cy="369332"/>
          </a:xfrm>
          <a:prstGeom prst="rect">
            <a:avLst/>
          </a:prstGeom>
          <a:noFill/>
        </p:spPr>
        <p:txBody>
          <a:bodyPr wrap="square" rtlCol="0">
            <a:spAutoFit/>
          </a:bodyPr>
          <a:lstStyle/>
          <a:p>
            <a:r>
              <a:rPr lang="en-IN" dirty="0"/>
              <a:t>Existing methodology</a:t>
            </a:r>
          </a:p>
        </p:txBody>
      </p:sp>
      <p:sp>
        <p:nvSpPr>
          <p:cNvPr id="4" name="Rectangle: Rounded Corners 3">
            <a:extLst>
              <a:ext uri="{FF2B5EF4-FFF2-40B4-BE49-F238E27FC236}">
                <a16:creationId xmlns:a16="http://schemas.microsoft.com/office/drawing/2014/main" id="{C4AA0EF6-5FE5-0517-5543-3B7B6F8C84D0}"/>
              </a:ext>
            </a:extLst>
          </p:cNvPr>
          <p:cNvSpPr/>
          <p:nvPr/>
        </p:nvSpPr>
        <p:spPr>
          <a:xfrm>
            <a:off x="4666271" y="783271"/>
            <a:ext cx="2318993" cy="21681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dirty="0"/>
              <a:t>Input image from video</a:t>
            </a:r>
          </a:p>
        </p:txBody>
      </p:sp>
      <p:sp>
        <p:nvSpPr>
          <p:cNvPr id="5" name="Rectangle: Rounded Corners 4">
            <a:extLst>
              <a:ext uri="{FF2B5EF4-FFF2-40B4-BE49-F238E27FC236}">
                <a16:creationId xmlns:a16="http://schemas.microsoft.com/office/drawing/2014/main" id="{FEBB40C7-4FD9-6A09-652B-70D220232643}"/>
              </a:ext>
            </a:extLst>
          </p:cNvPr>
          <p:cNvSpPr/>
          <p:nvPr/>
        </p:nvSpPr>
        <p:spPr>
          <a:xfrm>
            <a:off x="5040201" y="1254610"/>
            <a:ext cx="1646547" cy="21681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dirty="0"/>
              <a:t>Preprocessing</a:t>
            </a:r>
          </a:p>
        </p:txBody>
      </p:sp>
      <p:sp>
        <p:nvSpPr>
          <p:cNvPr id="6" name="Rectangle: Rounded Corners 5">
            <a:extLst>
              <a:ext uri="{FF2B5EF4-FFF2-40B4-BE49-F238E27FC236}">
                <a16:creationId xmlns:a16="http://schemas.microsoft.com/office/drawing/2014/main" id="{8D5C66A2-3315-36F1-D8EF-C94BD4AD08F0}"/>
              </a:ext>
            </a:extLst>
          </p:cNvPr>
          <p:cNvSpPr/>
          <p:nvPr/>
        </p:nvSpPr>
        <p:spPr>
          <a:xfrm>
            <a:off x="4920794" y="1735375"/>
            <a:ext cx="2020477" cy="21681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dirty="0"/>
              <a:t>Identifying motorcycle</a:t>
            </a:r>
          </a:p>
        </p:txBody>
      </p:sp>
      <p:sp>
        <p:nvSpPr>
          <p:cNvPr id="15" name="Rectangle: Rounded Corners 14">
            <a:extLst>
              <a:ext uri="{FF2B5EF4-FFF2-40B4-BE49-F238E27FC236}">
                <a16:creationId xmlns:a16="http://schemas.microsoft.com/office/drawing/2014/main" id="{4346E28B-4CBF-4C41-D3DB-745BDB90B636}"/>
              </a:ext>
            </a:extLst>
          </p:cNvPr>
          <p:cNvSpPr/>
          <p:nvPr/>
        </p:nvSpPr>
        <p:spPr>
          <a:xfrm>
            <a:off x="4973968" y="3903897"/>
            <a:ext cx="2385768" cy="21681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dirty="0"/>
              <a:t>Extract licensed number plate</a:t>
            </a:r>
          </a:p>
        </p:txBody>
      </p:sp>
      <p:sp>
        <p:nvSpPr>
          <p:cNvPr id="17" name="Diamond 16">
            <a:extLst>
              <a:ext uri="{FF2B5EF4-FFF2-40B4-BE49-F238E27FC236}">
                <a16:creationId xmlns:a16="http://schemas.microsoft.com/office/drawing/2014/main" id="{1F7CB3A9-4E6E-6F82-E3AC-1A224C45A1E5}"/>
              </a:ext>
            </a:extLst>
          </p:cNvPr>
          <p:cNvSpPr/>
          <p:nvPr/>
        </p:nvSpPr>
        <p:spPr>
          <a:xfrm>
            <a:off x="5142323" y="2276576"/>
            <a:ext cx="1649691" cy="716439"/>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dirty="0"/>
              <a:t>Find</a:t>
            </a:r>
            <a:br>
              <a:rPr lang="en-IN" dirty="0"/>
            </a:br>
            <a:r>
              <a:rPr lang="en-IN" sz="1400" dirty="0"/>
              <a:t>Helmet?</a:t>
            </a:r>
          </a:p>
        </p:txBody>
      </p:sp>
      <p:sp>
        <p:nvSpPr>
          <p:cNvPr id="18" name="Rectangle: Rounded Corners 17">
            <a:extLst>
              <a:ext uri="{FF2B5EF4-FFF2-40B4-BE49-F238E27FC236}">
                <a16:creationId xmlns:a16="http://schemas.microsoft.com/office/drawing/2014/main" id="{07F9DB0F-6405-5164-6150-8A88B61E51AD}"/>
              </a:ext>
            </a:extLst>
          </p:cNvPr>
          <p:cNvSpPr/>
          <p:nvPr/>
        </p:nvSpPr>
        <p:spPr>
          <a:xfrm>
            <a:off x="8135333" y="2554666"/>
            <a:ext cx="1414020" cy="33936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dirty="0"/>
              <a:t>Stop</a:t>
            </a:r>
          </a:p>
        </p:txBody>
      </p:sp>
      <p:sp>
        <p:nvSpPr>
          <p:cNvPr id="19" name="Rectangle: Rounded Corners 18">
            <a:extLst>
              <a:ext uri="{FF2B5EF4-FFF2-40B4-BE49-F238E27FC236}">
                <a16:creationId xmlns:a16="http://schemas.microsoft.com/office/drawing/2014/main" id="{BDCAAB1A-8A13-697E-9183-3C9F69FD78FD}"/>
              </a:ext>
            </a:extLst>
          </p:cNvPr>
          <p:cNvSpPr/>
          <p:nvPr/>
        </p:nvSpPr>
        <p:spPr>
          <a:xfrm>
            <a:off x="5142321" y="4647418"/>
            <a:ext cx="2385768" cy="3016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400" dirty="0"/>
              <a:t>Automatically generates fine</a:t>
            </a:r>
          </a:p>
        </p:txBody>
      </p:sp>
      <p:sp>
        <p:nvSpPr>
          <p:cNvPr id="20" name="Rectangle: Rounded Corners 19">
            <a:extLst>
              <a:ext uri="{FF2B5EF4-FFF2-40B4-BE49-F238E27FC236}">
                <a16:creationId xmlns:a16="http://schemas.microsoft.com/office/drawing/2014/main" id="{EB4627F3-B380-F951-2BDC-9C264CD74DF5}"/>
              </a:ext>
            </a:extLst>
          </p:cNvPr>
          <p:cNvSpPr/>
          <p:nvPr/>
        </p:nvSpPr>
        <p:spPr>
          <a:xfrm>
            <a:off x="5420414" y="5288440"/>
            <a:ext cx="1649691" cy="3016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Stop</a:t>
            </a:r>
          </a:p>
        </p:txBody>
      </p:sp>
      <p:sp>
        <p:nvSpPr>
          <p:cNvPr id="22" name="TextBox 21">
            <a:extLst>
              <a:ext uri="{FF2B5EF4-FFF2-40B4-BE49-F238E27FC236}">
                <a16:creationId xmlns:a16="http://schemas.microsoft.com/office/drawing/2014/main" id="{4BD09769-ACE5-023A-7D6E-853FFDB20E38}"/>
              </a:ext>
            </a:extLst>
          </p:cNvPr>
          <p:cNvSpPr txBox="1"/>
          <p:nvPr/>
        </p:nvSpPr>
        <p:spPr>
          <a:xfrm>
            <a:off x="7065391" y="2328248"/>
            <a:ext cx="867267" cy="369332"/>
          </a:xfrm>
          <a:prstGeom prst="rect">
            <a:avLst/>
          </a:prstGeom>
          <a:noFill/>
        </p:spPr>
        <p:txBody>
          <a:bodyPr wrap="square" rtlCol="0">
            <a:spAutoFit/>
          </a:bodyPr>
          <a:lstStyle/>
          <a:p>
            <a:r>
              <a:rPr lang="en-IN" dirty="0"/>
              <a:t>Yes</a:t>
            </a:r>
          </a:p>
        </p:txBody>
      </p:sp>
      <p:sp>
        <p:nvSpPr>
          <p:cNvPr id="23" name="Arrow: Down 22">
            <a:extLst>
              <a:ext uri="{FF2B5EF4-FFF2-40B4-BE49-F238E27FC236}">
                <a16:creationId xmlns:a16="http://schemas.microsoft.com/office/drawing/2014/main" id="{F89AE876-9DC6-DAAB-502A-482C221095E3}"/>
              </a:ext>
            </a:extLst>
          </p:cNvPr>
          <p:cNvSpPr/>
          <p:nvPr/>
        </p:nvSpPr>
        <p:spPr>
          <a:xfrm>
            <a:off x="5967169" y="2993011"/>
            <a:ext cx="45719" cy="32438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6CFE35C8-797C-94E4-0490-A3FFA6EF3932}"/>
              </a:ext>
            </a:extLst>
          </p:cNvPr>
          <p:cNvSpPr txBox="1"/>
          <p:nvPr/>
        </p:nvSpPr>
        <p:spPr>
          <a:xfrm>
            <a:off x="6096003" y="2993011"/>
            <a:ext cx="590745" cy="369332"/>
          </a:xfrm>
          <a:prstGeom prst="rect">
            <a:avLst/>
          </a:prstGeom>
          <a:noFill/>
        </p:spPr>
        <p:txBody>
          <a:bodyPr wrap="square" rtlCol="0">
            <a:spAutoFit/>
          </a:bodyPr>
          <a:lstStyle/>
          <a:p>
            <a:r>
              <a:rPr lang="en-IN" dirty="0"/>
              <a:t>No</a:t>
            </a:r>
          </a:p>
        </p:txBody>
      </p:sp>
      <p:sp>
        <p:nvSpPr>
          <p:cNvPr id="26" name="Arrow: Down 25">
            <a:extLst>
              <a:ext uri="{FF2B5EF4-FFF2-40B4-BE49-F238E27FC236}">
                <a16:creationId xmlns:a16="http://schemas.microsoft.com/office/drawing/2014/main" id="{BFB15E28-5205-C5B6-C65B-B2ABB6C3582F}"/>
              </a:ext>
            </a:extLst>
          </p:cNvPr>
          <p:cNvSpPr/>
          <p:nvPr/>
        </p:nvSpPr>
        <p:spPr>
          <a:xfrm>
            <a:off x="5797488" y="1000086"/>
            <a:ext cx="75415" cy="25452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Arrow: Down 26">
            <a:extLst>
              <a:ext uri="{FF2B5EF4-FFF2-40B4-BE49-F238E27FC236}">
                <a16:creationId xmlns:a16="http://schemas.microsoft.com/office/drawing/2014/main" id="{143A7BC0-5F99-CB06-956F-904C9AB65EA6}"/>
              </a:ext>
            </a:extLst>
          </p:cNvPr>
          <p:cNvSpPr/>
          <p:nvPr/>
        </p:nvSpPr>
        <p:spPr>
          <a:xfrm>
            <a:off x="5872903" y="1471426"/>
            <a:ext cx="45719" cy="26394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Arrow: Down 27">
            <a:extLst>
              <a:ext uri="{FF2B5EF4-FFF2-40B4-BE49-F238E27FC236}">
                <a16:creationId xmlns:a16="http://schemas.microsoft.com/office/drawing/2014/main" id="{78FE7A06-078E-CF9F-83E3-CBC3DF7AC464}"/>
              </a:ext>
            </a:extLst>
          </p:cNvPr>
          <p:cNvSpPr/>
          <p:nvPr/>
        </p:nvSpPr>
        <p:spPr>
          <a:xfrm>
            <a:off x="5918621" y="1952192"/>
            <a:ext cx="94267" cy="3243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Arrow: Down 29">
            <a:extLst>
              <a:ext uri="{FF2B5EF4-FFF2-40B4-BE49-F238E27FC236}">
                <a16:creationId xmlns:a16="http://schemas.microsoft.com/office/drawing/2014/main" id="{C03E13B4-F18F-5070-F1CE-EBB07C50B865}"/>
              </a:ext>
            </a:extLst>
          </p:cNvPr>
          <p:cNvSpPr/>
          <p:nvPr/>
        </p:nvSpPr>
        <p:spPr>
          <a:xfrm>
            <a:off x="6058608" y="4269504"/>
            <a:ext cx="45719" cy="43363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Arrow: Down 30">
            <a:extLst>
              <a:ext uri="{FF2B5EF4-FFF2-40B4-BE49-F238E27FC236}">
                <a16:creationId xmlns:a16="http://schemas.microsoft.com/office/drawing/2014/main" id="{B72C5A43-1E19-CC5F-26F0-CA8A835EC494}"/>
              </a:ext>
            </a:extLst>
          </p:cNvPr>
          <p:cNvSpPr/>
          <p:nvPr/>
        </p:nvSpPr>
        <p:spPr>
          <a:xfrm>
            <a:off x="6268828" y="4949073"/>
            <a:ext cx="45719" cy="33936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6" name="Straight Arrow Connector 35">
            <a:extLst>
              <a:ext uri="{FF2B5EF4-FFF2-40B4-BE49-F238E27FC236}">
                <a16:creationId xmlns:a16="http://schemas.microsoft.com/office/drawing/2014/main" id="{2A1D4EFF-776D-AD69-FF0A-B7EB6316D03D}"/>
              </a:ext>
            </a:extLst>
          </p:cNvPr>
          <p:cNvCxnSpPr>
            <a:cxnSpLocks/>
            <a:stCxn id="17" idx="3"/>
            <a:endCxn id="18" idx="1"/>
          </p:cNvCxnSpPr>
          <p:nvPr/>
        </p:nvCxnSpPr>
        <p:spPr>
          <a:xfrm>
            <a:off x="6792012" y="2634795"/>
            <a:ext cx="1343320" cy="895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7576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1CB160-F8C2-8B6E-0B86-BA2EB03471A4}"/>
              </a:ext>
            </a:extLst>
          </p:cNvPr>
          <p:cNvSpPr txBox="1"/>
          <p:nvPr/>
        </p:nvSpPr>
        <p:spPr>
          <a:xfrm>
            <a:off x="1419370" y="1023586"/>
            <a:ext cx="10140287" cy="3693319"/>
          </a:xfrm>
          <a:prstGeom prst="rect">
            <a:avLst/>
          </a:prstGeom>
          <a:noFill/>
        </p:spPr>
        <p:txBody>
          <a:bodyPr wrap="square" rtlCol="0">
            <a:spAutoFit/>
          </a:bodyPr>
          <a:lstStyle/>
          <a:p>
            <a:r>
              <a:rPr lang="en-IN" b="1" dirty="0"/>
              <a:t>Step 1 : Data Collection</a:t>
            </a:r>
          </a:p>
          <a:p>
            <a:r>
              <a:rPr lang="en-IN" dirty="0"/>
              <a:t>Collect traffic images and video frames containing motorcycles, helmet and no-helmet riders, and vehicle number plates.</a:t>
            </a:r>
          </a:p>
          <a:p>
            <a:br>
              <a:rPr lang="en-IN" dirty="0"/>
            </a:br>
            <a:endParaRPr lang="en-IN" dirty="0"/>
          </a:p>
          <a:p>
            <a:r>
              <a:rPr lang="en-IN" b="1" dirty="0"/>
              <a:t>Step 2 : Feature Extraction</a:t>
            </a:r>
          </a:p>
          <a:p>
            <a:r>
              <a:rPr lang="en-IN" dirty="0"/>
              <a:t>Extract visual features using YOLOv8m for object detection:</a:t>
            </a:r>
          </a:p>
          <a:p>
            <a:r>
              <a:rPr lang="en-IN" dirty="0"/>
              <a:t>Bounding box coordinates (x, y, width, height)</a:t>
            </a:r>
          </a:p>
          <a:p>
            <a:r>
              <a:rPr lang="en-IN" dirty="0"/>
              <a:t>Class labels (Helmet, No Helmet, Motorcycle, Number Plate)</a:t>
            </a:r>
          </a:p>
          <a:p>
            <a:r>
              <a:rPr lang="en-IN" dirty="0"/>
              <a:t>Confidence scores</a:t>
            </a:r>
          </a:p>
          <a:p>
            <a:r>
              <a:rPr lang="en-IN" dirty="0"/>
              <a:t>Intersection over Union (</a:t>
            </a:r>
            <a:r>
              <a:rPr lang="en-IN" dirty="0" err="1"/>
              <a:t>IoU</a:t>
            </a:r>
            <a:r>
              <a:rPr lang="en-IN" dirty="0"/>
              <a:t>)</a:t>
            </a:r>
          </a:p>
          <a:p>
            <a:r>
              <a:rPr lang="en-IN" dirty="0"/>
              <a:t>Rider count for triple riding detection</a:t>
            </a:r>
          </a:p>
          <a:p>
            <a:endParaRPr lang="en-IN" dirty="0"/>
          </a:p>
        </p:txBody>
      </p:sp>
    </p:spTree>
    <p:extLst>
      <p:ext uri="{BB962C8B-B14F-4D97-AF65-F5344CB8AC3E}">
        <p14:creationId xmlns:p14="http://schemas.microsoft.com/office/powerpoint/2010/main" val="4221965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F585E9-5107-F811-8FE5-C19C36484770}"/>
              </a:ext>
            </a:extLst>
          </p:cNvPr>
          <p:cNvSpPr txBox="1"/>
          <p:nvPr/>
        </p:nvSpPr>
        <p:spPr>
          <a:xfrm>
            <a:off x="955345" y="818867"/>
            <a:ext cx="9580729" cy="3693319"/>
          </a:xfrm>
          <a:prstGeom prst="rect">
            <a:avLst/>
          </a:prstGeom>
          <a:noFill/>
        </p:spPr>
        <p:txBody>
          <a:bodyPr wrap="square" rtlCol="0">
            <a:spAutoFit/>
          </a:bodyPr>
          <a:lstStyle/>
          <a:p>
            <a:r>
              <a:rPr lang="en-IN" b="1" dirty="0"/>
              <a:t>Step 3 : Data Preparation and Augmentation</a:t>
            </a:r>
          </a:p>
          <a:p>
            <a:r>
              <a:rPr lang="en-IN" dirty="0"/>
              <a:t>Apply data augmentation techniques to improve model generalization and handle class imbalance between helmet and no-helmet samples.</a:t>
            </a:r>
          </a:p>
          <a:p>
            <a:r>
              <a:rPr lang="en-IN" dirty="0"/>
              <a:t>Techniques applied:</a:t>
            </a:r>
            <a:br>
              <a:rPr lang="en-IN" dirty="0"/>
            </a:br>
            <a:r>
              <a:rPr lang="en-IN" dirty="0"/>
              <a:t>Image flipping, rotation, brightness adjustment, scaling, and normalization to enhance dataset diversity.</a:t>
            </a:r>
          </a:p>
          <a:p>
            <a:br>
              <a:rPr lang="en-IN" dirty="0"/>
            </a:br>
            <a:endParaRPr lang="en-IN" dirty="0"/>
          </a:p>
          <a:p>
            <a:r>
              <a:rPr lang="en-IN" b="1" dirty="0"/>
              <a:t>Step 4 : Model Selection and Training</a:t>
            </a:r>
          </a:p>
          <a:p>
            <a:r>
              <a:rPr lang="en-IN" dirty="0"/>
              <a:t>Train the detection model using:</a:t>
            </a:r>
          </a:p>
          <a:p>
            <a:r>
              <a:rPr lang="en-IN" dirty="0"/>
              <a:t>YOLOv8m (You Only Look Once – Medium Variant) for real-time object detection</a:t>
            </a:r>
          </a:p>
          <a:p>
            <a:r>
              <a:rPr lang="en-IN" dirty="0"/>
              <a:t>Tesseract OCR for automatic number plate recognition</a:t>
            </a:r>
          </a:p>
          <a:p>
            <a:endParaRPr lang="en-IN" dirty="0"/>
          </a:p>
        </p:txBody>
      </p:sp>
    </p:spTree>
    <p:extLst>
      <p:ext uri="{BB962C8B-B14F-4D97-AF65-F5344CB8AC3E}">
        <p14:creationId xmlns:p14="http://schemas.microsoft.com/office/powerpoint/2010/main" val="3225926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28E775-216E-922F-3D48-7DF4AF77E180}"/>
              </a:ext>
            </a:extLst>
          </p:cNvPr>
          <p:cNvSpPr txBox="1"/>
          <p:nvPr/>
        </p:nvSpPr>
        <p:spPr>
          <a:xfrm>
            <a:off x="1132765" y="873458"/>
            <a:ext cx="8898340" cy="3693319"/>
          </a:xfrm>
          <a:prstGeom prst="rect">
            <a:avLst/>
          </a:prstGeom>
          <a:noFill/>
        </p:spPr>
        <p:txBody>
          <a:bodyPr wrap="square" rtlCol="0">
            <a:spAutoFit/>
          </a:bodyPr>
          <a:lstStyle/>
          <a:p>
            <a:r>
              <a:rPr lang="en-US" b="1" dirty="0"/>
              <a:t>Step 5 : Model Evaluation</a:t>
            </a:r>
          </a:p>
          <a:p>
            <a:r>
              <a:rPr lang="en-US" dirty="0"/>
              <a:t>Evaluate the detection model using:</a:t>
            </a:r>
          </a:p>
          <a:p>
            <a:r>
              <a:rPr lang="en-US" dirty="0"/>
              <a:t>Precision, Recall, F1-Score,</a:t>
            </a:r>
            <a:br>
              <a:rPr lang="en-US" dirty="0"/>
            </a:br>
            <a:r>
              <a:rPr lang="en-US" dirty="0"/>
              <a:t>mAP@50 and mAP@50–95,</a:t>
            </a:r>
            <a:br>
              <a:rPr lang="en-US" dirty="0"/>
            </a:br>
            <a:r>
              <a:rPr lang="en-US" dirty="0"/>
              <a:t>Confusion Matrix, and </a:t>
            </a:r>
            <a:r>
              <a:rPr lang="en-US" dirty="0" err="1"/>
              <a:t>IoU</a:t>
            </a:r>
            <a:r>
              <a:rPr lang="en-US" dirty="0"/>
              <a:t> (Intersection over Union).</a:t>
            </a:r>
          </a:p>
          <a:p>
            <a:br>
              <a:rPr lang="en-US" dirty="0"/>
            </a:br>
            <a:endParaRPr lang="en-US" dirty="0"/>
          </a:p>
          <a:p>
            <a:r>
              <a:rPr lang="en-US" b="1" dirty="0"/>
              <a:t>Step 6 : Performance Analysis</a:t>
            </a:r>
          </a:p>
          <a:p>
            <a:r>
              <a:rPr lang="en-US" dirty="0"/>
              <a:t>Analyze the confusion matrix and </a:t>
            </a:r>
            <a:r>
              <a:rPr lang="en-US" dirty="0" err="1"/>
              <a:t>mAP</a:t>
            </a:r>
            <a:r>
              <a:rPr lang="en-US" dirty="0"/>
              <a:t> scores to assess helmet and number plate detection performance.</a:t>
            </a:r>
          </a:p>
          <a:p>
            <a:r>
              <a:rPr lang="en-US" dirty="0"/>
              <a:t>Identify false positives (incorrect violation detection) and false negatives (missed helmet or number plate detection) to improve model accuracy and reliability.</a:t>
            </a:r>
          </a:p>
          <a:p>
            <a:endParaRPr lang="en-IN" dirty="0"/>
          </a:p>
        </p:txBody>
      </p:sp>
    </p:spTree>
    <p:extLst>
      <p:ext uri="{BB962C8B-B14F-4D97-AF65-F5344CB8AC3E}">
        <p14:creationId xmlns:p14="http://schemas.microsoft.com/office/powerpoint/2010/main" val="2346009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D3606-ADA1-39F5-4362-D8177BD4D713}"/>
              </a:ext>
            </a:extLst>
          </p:cNvPr>
          <p:cNvSpPr>
            <a:spLocks noGrp="1"/>
          </p:cNvSpPr>
          <p:nvPr>
            <p:ph type="title"/>
          </p:nvPr>
        </p:nvSpPr>
        <p:spPr/>
        <p:txBody>
          <a:bodyPr/>
          <a:lstStyle/>
          <a:p>
            <a:r>
              <a:rPr lang="en-IN" dirty="0"/>
              <a:t>Limitations</a:t>
            </a:r>
          </a:p>
        </p:txBody>
      </p:sp>
      <p:sp>
        <p:nvSpPr>
          <p:cNvPr id="3" name="Content Placeholder 2">
            <a:extLst>
              <a:ext uri="{FF2B5EF4-FFF2-40B4-BE49-F238E27FC236}">
                <a16:creationId xmlns:a16="http://schemas.microsoft.com/office/drawing/2014/main" id="{BECE5FDB-B9A4-291E-57E3-DE0D0E176129}"/>
              </a:ext>
            </a:extLst>
          </p:cNvPr>
          <p:cNvSpPr>
            <a:spLocks noGrp="1"/>
          </p:cNvSpPr>
          <p:nvPr>
            <p:ph idx="1"/>
          </p:nvPr>
        </p:nvSpPr>
        <p:spPr/>
        <p:txBody>
          <a:bodyPr/>
          <a:lstStyle/>
          <a:p>
            <a:pPr marL="285744" indent="-285744"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Detection accuracy decreases during night, low light, and rain.</a:t>
            </a:r>
          </a:p>
          <a:p>
            <a:pPr lvl="0" eaLnBrk="0" fontAlgn="base" hangingPunct="0">
              <a:lnSpc>
                <a:spcPct val="100000"/>
              </a:lnSpc>
              <a:spcBef>
                <a:spcPct val="0"/>
              </a:spcBef>
              <a:spcAft>
                <a:spcPct val="0"/>
              </a:spcAft>
            </a:pPr>
            <a:endParaRPr lang="en-US" altLang="en-US" sz="1800" dirty="0">
              <a:latin typeface="Times New Roman" panose="02020603050405020304" pitchFamily="18" charset="0"/>
              <a:cs typeface="Times New Roman" panose="02020603050405020304" pitchFamily="18" charset="0"/>
            </a:endParaRPr>
          </a:p>
          <a:p>
            <a:pPr marL="285744" indent="-285744"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Multiple riders overlapping make triple riding detection difficult.</a:t>
            </a:r>
          </a:p>
          <a:p>
            <a:pPr lvl="0" eaLnBrk="0" fontAlgn="base" hangingPunct="0">
              <a:lnSpc>
                <a:spcPct val="100000"/>
              </a:lnSpc>
              <a:spcBef>
                <a:spcPct val="0"/>
              </a:spcBef>
              <a:spcAft>
                <a:spcPct val="0"/>
              </a:spcAft>
            </a:pPr>
            <a:endParaRPr lang="en-US" altLang="en-US" sz="1800" dirty="0">
              <a:latin typeface="Times New Roman" panose="02020603050405020304" pitchFamily="18" charset="0"/>
              <a:cs typeface="Times New Roman" panose="02020603050405020304" pitchFamily="18" charset="0"/>
            </a:endParaRPr>
          </a:p>
          <a:p>
            <a:pPr marL="285744" indent="-285744"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OCR struggles with unclear or blurred number plates.</a:t>
            </a:r>
          </a:p>
          <a:p>
            <a:pPr lvl="0" eaLnBrk="0" fontAlgn="base" hangingPunct="0">
              <a:lnSpc>
                <a:spcPct val="100000"/>
              </a:lnSpc>
              <a:spcBef>
                <a:spcPct val="0"/>
              </a:spcBef>
              <a:spcAft>
                <a:spcPct val="0"/>
              </a:spcAft>
            </a:pPr>
            <a:endParaRPr lang="en-US" altLang="en-US" sz="1800" dirty="0">
              <a:latin typeface="Times New Roman" panose="02020603050405020304" pitchFamily="18" charset="0"/>
              <a:cs typeface="Times New Roman" panose="02020603050405020304" pitchFamily="18" charset="0"/>
            </a:endParaRPr>
          </a:p>
          <a:p>
            <a:pPr marL="285744" indent="-285744" eaLnBrk="0" fontAlgn="base" hangingPunct="0">
              <a:lnSpc>
                <a:spcPct val="100000"/>
              </a:lnSpc>
              <a:spcBef>
                <a:spcPct val="0"/>
              </a:spcBef>
              <a:spcAft>
                <a:spcPct val="0"/>
              </a:spcAft>
            </a:pPr>
            <a:r>
              <a:rPr lang="en-US" altLang="en-US" sz="1800" dirty="0">
                <a:latin typeface="Times New Roman" panose="02020603050405020304" pitchFamily="18" charset="0"/>
                <a:cs typeface="Times New Roman" panose="02020603050405020304" pitchFamily="18" charset="0"/>
              </a:rPr>
              <a:t>Limited datasets reduce model accuracy and generalization.</a:t>
            </a:r>
          </a:p>
          <a:p>
            <a:pPr marL="0" indent="0">
              <a:buNone/>
            </a:pPr>
            <a:endParaRPr lang="en-IN" dirty="0"/>
          </a:p>
        </p:txBody>
      </p:sp>
    </p:spTree>
    <p:extLst>
      <p:ext uri="{BB962C8B-B14F-4D97-AF65-F5344CB8AC3E}">
        <p14:creationId xmlns:p14="http://schemas.microsoft.com/office/powerpoint/2010/main" val="1320675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23CE4-607F-F031-4ADF-9A39F87F80EE}"/>
              </a:ext>
            </a:extLst>
          </p:cNvPr>
          <p:cNvSpPr>
            <a:spLocks noGrp="1"/>
          </p:cNvSpPr>
          <p:nvPr>
            <p:ph type="title"/>
          </p:nvPr>
        </p:nvSpPr>
        <p:spPr/>
        <p:txBody>
          <a:bodyPr/>
          <a:lstStyle/>
          <a:p>
            <a:r>
              <a:rPr lang="en-IN" dirty="0"/>
              <a:t>Dataset</a:t>
            </a:r>
          </a:p>
        </p:txBody>
      </p:sp>
      <p:sp>
        <p:nvSpPr>
          <p:cNvPr id="3" name="Content Placeholder 2">
            <a:extLst>
              <a:ext uri="{FF2B5EF4-FFF2-40B4-BE49-F238E27FC236}">
                <a16:creationId xmlns:a16="http://schemas.microsoft.com/office/drawing/2014/main" id="{9E2CB651-8184-496C-E03A-A027763A6C0F}"/>
              </a:ext>
            </a:extLst>
          </p:cNvPr>
          <p:cNvSpPr>
            <a:spLocks noGrp="1"/>
          </p:cNvSpPr>
          <p:nvPr>
            <p:ph idx="1"/>
          </p:nvPr>
        </p:nvSpPr>
        <p:spPr/>
        <p:txBody>
          <a:bodyPr>
            <a:normAutofit/>
          </a:bodyPr>
          <a:lstStyle/>
          <a:p>
            <a:r>
              <a:rPr lang="en-IN" sz="1900" dirty="0">
                <a:latin typeface="Times New Roman" panose="02020603050405020304" pitchFamily="18" charset="0"/>
                <a:cs typeface="Times New Roman" panose="02020603050405020304" pitchFamily="18" charset="0"/>
              </a:rPr>
              <a:t>This work uses the publicly available </a:t>
            </a:r>
            <a:r>
              <a:rPr lang="en-IN" sz="1900" dirty="0" err="1">
                <a:latin typeface="Times New Roman" panose="02020603050405020304" pitchFamily="18" charset="0"/>
                <a:cs typeface="Times New Roman" panose="02020603050405020304" pitchFamily="18" charset="0"/>
              </a:rPr>
              <a:t>Roboflow</a:t>
            </a:r>
            <a:r>
              <a:rPr lang="en-IN" sz="1900" dirty="0">
                <a:latin typeface="Times New Roman" panose="02020603050405020304" pitchFamily="18" charset="0"/>
                <a:cs typeface="Times New Roman" panose="02020603050405020304" pitchFamily="18" charset="0"/>
              </a:rPr>
              <a:t> dataset:</a:t>
            </a:r>
          </a:p>
          <a:p>
            <a:r>
              <a:rPr lang="en-IN" sz="1900" dirty="0">
                <a:latin typeface="Times New Roman" panose="02020603050405020304" pitchFamily="18" charset="0"/>
                <a:cs typeface="Times New Roman" panose="02020603050405020304" pitchFamily="18" charset="0"/>
              </a:rPr>
              <a:t>Helmet Detection Dataset (</a:t>
            </a:r>
            <a:r>
              <a:rPr lang="en-IN" sz="1900" dirty="0" err="1">
                <a:latin typeface="Times New Roman" panose="02020603050405020304" pitchFamily="18" charset="0"/>
                <a:cs typeface="Times New Roman" panose="02020603050405020304" pitchFamily="18" charset="0"/>
              </a:rPr>
              <a:t>Roboflow</a:t>
            </a:r>
            <a:r>
              <a:rPr lang="en-IN" sz="1900" dirty="0">
                <a:latin typeface="Times New Roman" panose="02020603050405020304" pitchFamily="18" charset="0"/>
                <a:cs typeface="Times New Roman" panose="02020603050405020304" pitchFamily="18" charset="0"/>
              </a:rPr>
              <a:t> Universe)</a:t>
            </a:r>
            <a:br>
              <a:rPr lang="en-IN" sz="1900" dirty="0">
                <a:latin typeface="Times New Roman" panose="02020603050405020304" pitchFamily="18" charset="0"/>
                <a:cs typeface="Times New Roman" panose="02020603050405020304" pitchFamily="18" charset="0"/>
              </a:rPr>
            </a:br>
            <a:r>
              <a:rPr lang="en-IN" sz="1900" u="sng" dirty="0">
                <a:latin typeface="Times New Roman" panose="02020603050405020304" pitchFamily="18" charset="0"/>
                <a:cs typeface="Times New Roman" panose="02020603050405020304" pitchFamily="18" charset="0"/>
                <a:hlinkClick r:id="rId2"/>
              </a:rPr>
              <a:t>https://universe.roboflow.com/hele/helmet-detection-nsbwm-ftr3v/dataset/4</a:t>
            </a:r>
            <a:endParaRPr lang="en-IN" sz="1900" dirty="0">
              <a:latin typeface="Times New Roman" panose="02020603050405020304" pitchFamily="18" charset="0"/>
              <a:cs typeface="Times New Roman" panose="02020603050405020304" pitchFamily="18" charset="0"/>
            </a:endParaRPr>
          </a:p>
          <a:p>
            <a:r>
              <a:rPr lang="en-IN" sz="1900" dirty="0">
                <a:latin typeface="Times New Roman" panose="02020603050405020304" pitchFamily="18" charset="0"/>
                <a:cs typeface="Times New Roman" panose="02020603050405020304" pitchFamily="18" charset="0"/>
              </a:rPr>
              <a:t>Dataset Format: YOLO</a:t>
            </a:r>
            <a:br>
              <a:rPr lang="en-IN" sz="1900" dirty="0">
                <a:latin typeface="Times New Roman" panose="02020603050405020304" pitchFamily="18" charset="0"/>
                <a:cs typeface="Times New Roman" panose="02020603050405020304" pitchFamily="18" charset="0"/>
              </a:rPr>
            </a:br>
            <a:r>
              <a:rPr lang="en-IN" sz="1900" dirty="0">
                <a:latin typeface="Times New Roman" panose="02020603050405020304" pitchFamily="18" charset="0"/>
                <a:cs typeface="Times New Roman" panose="02020603050405020304" pitchFamily="18" charset="0"/>
              </a:rPr>
              <a:t>Classes:</a:t>
            </a:r>
          </a:p>
          <a:p>
            <a:pPr lvl="1"/>
            <a:r>
              <a:rPr lang="en-IN" sz="1900" dirty="0">
                <a:latin typeface="Times New Roman" panose="02020603050405020304" pitchFamily="18" charset="0"/>
                <a:cs typeface="Times New Roman" panose="02020603050405020304" pitchFamily="18" charset="0"/>
              </a:rPr>
              <a:t>Helmet</a:t>
            </a:r>
          </a:p>
          <a:p>
            <a:pPr lvl="1"/>
            <a:r>
              <a:rPr lang="en-IN" sz="1900" dirty="0" err="1">
                <a:latin typeface="Times New Roman" panose="02020603050405020304" pitchFamily="18" charset="0"/>
                <a:cs typeface="Times New Roman" panose="02020603050405020304" pitchFamily="18" charset="0"/>
              </a:rPr>
              <a:t>NoHelmet</a:t>
            </a:r>
            <a:endParaRPr lang="en-IN" sz="1900" dirty="0">
              <a:latin typeface="Times New Roman" panose="02020603050405020304" pitchFamily="18" charset="0"/>
              <a:cs typeface="Times New Roman" panose="02020603050405020304" pitchFamily="18" charset="0"/>
            </a:endParaRPr>
          </a:p>
          <a:p>
            <a:pPr lvl="1"/>
            <a:r>
              <a:rPr lang="en-IN" sz="1900" dirty="0">
                <a:latin typeface="Times New Roman" panose="02020603050405020304" pitchFamily="18" charset="0"/>
                <a:cs typeface="Times New Roman" panose="02020603050405020304" pitchFamily="18" charset="0"/>
              </a:rPr>
              <a:t>Motorbike</a:t>
            </a:r>
          </a:p>
          <a:p>
            <a:pPr lvl="1"/>
            <a:r>
              <a:rPr lang="en-IN" sz="1900" dirty="0" err="1">
                <a:latin typeface="Times New Roman" panose="02020603050405020304" pitchFamily="18" charset="0"/>
                <a:cs typeface="Times New Roman" panose="02020603050405020304" pitchFamily="18" charset="0"/>
              </a:rPr>
              <a:t>PNumber</a:t>
            </a:r>
            <a:endParaRPr lang="en-IN" sz="1900" dirty="0">
              <a:latin typeface="Times New Roman" panose="02020603050405020304" pitchFamily="18" charset="0"/>
              <a:cs typeface="Times New Roman" panose="02020603050405020304" pitchFamily="18" charset="0"/>
            </a:endParaRPr>
          </a:p>
          <a:p>
            <a:r>
              <a:rPr lang="en-IN" sz="1900" dirty="0">
                <a:latin typeface="Times New Roman" panose="02020603050405020304" pitchFamily="18" charset="0"/>
                <a:cs typeface="Times New Roman" panose="02020603050405020304" pitchFamily="18" charset="0"/>
              </a:rPr>
              <a:t>The dataset includes both day and night traffic images to improve generalization under varying lighting conditions.</a:t>
            </a:r>
          </a:p>
          <a:p>
            <a:pPr marL="0" indent="0">
              <a:buNone/>
            </a:pPr>
            <a:endParaRPr lang="en-IN" sz="1800" dirty="0"/>
          </a:p>
          <a:p>
            <a:pPr marL="0" indent="0">
              <a:buNone/>
            </a:pPr>
            <a:endParaRPr lang="en-IN" dirty="0"/>
          </a:p>
        </p:txBody>
      </p:sp>
    </p:spTree>
    <p:extLst>
      <p:ext uri="{BB962C8B-B14F-4D97-AF65-F5344CB8AC3E}">
        <p14:creationId xmlns:p14="http://schemas.microsoft.com/office/powerpoint/2010/main" val="3877387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90BC89-5A88-B69F-A056-B5C047A38E8D}"/>
              </a:ext>
            </a:extLst>
          </p:cNvPr>
          <p:cNvSpPr txBox="1"/>
          <p:nvPr/>
        </p:nvSpPr>
        <p:spPr>
          <a:xfrm>
            <a:off x="1132765" y="614149"/>
            <a:ext cx="8338783" cy="369332"/>
          </a:xfrm>
          <a:prstGeom prst="rect">
            <a:avLst/>
          </a:prstGeom>
          <a:noFill/>
        </p:spPr>
        <p:txBody>
          <a:bodyPr wrap="square" rtlCol="0">
            <a:spAutoFit/>
          </a:bodyPr>
          <a:lstStyle/>
          <a:p>
            <a:r>
              <a:rPr lang="en-IN" dirty="0"/>
              <a:t>Modules used for traffic violation detection</a:t>
            </a:r>
          </a:p>
        </p:txBody>
      </p:sp>
      <p:sp>
        <p:nvSpPr>
          <p:cNvPr id="8" name="TextBox 7">
            <a:extLst>
              <a:ext uri="{FF2B5EF4-FFF2-40B4-BE49-F238E27FC236}">
                <a16:creationId xmlns:a16="http://schemas.microsoft.com/office/drawing/2014/main" id="{49C9F5CB-012A-8F84-65DF-D12CB031E9B7}"/>
              </a:ext>
            </a:extLst>
          </p:cNvPr>
          <p:cNvSpPr txBox="1"/>
          <p:nvPr/>
        </p:nvSpPr>
        <p:spPr>
          <a:xfrm>
            <a:off x="1132765" y="1473960"/>
            <a:ext cx="10222173" cy="2862322"/>
          </a:xfrm>
          <a:prstGeom prst="rect">
            <a:avLst/>
          </a:prstGeom>
          <a:noFill/>
        </p:spPr>
        <p:txBody>
          <a:bodyPr wrap="square" rtlCol="0">
            <a:spAutoFit/>
          </a:bodyPr>
          <a:lstStyle/>
          <a:p>
            <a:r>
              <a:rPr lang="en-US" b="1" dirty="0"/>
              <a:t>pip install </a:t>
            </a:r>
            <a:r>
              <a:rPr lang="en-US" b="1" dirty="0" err="1"/>
              <a:t>ultralytics</a:t>
            </a:r>
            <a:endParaRPr lang="en-US" b="1" dirty="0"/>
          </a:p>
          <a:p>
            <a:r>
              <a:rPr lang="en-US" dirty="0"/>
              <a:t>This command installs the </a:t>
            </a:r>
            <a:r>
              <a:rPr lang="en-US" dirty="0" err="1"/>
              <a:t>Ultralytics</a:t>
            </a:r>
            <a:r>
              <a:rPr lang="en-US" dirty="0"/>
              <a:t> library to train and run the YOLOv8m object detection model.</a:t>
            </a:r>
          </a:p>
          <a:p>
            <a:br>
              <a:rPr lang="en-US" dirty="0"/>
            </a:br>
            <a:endParaRPr lang="en-US" dirty="0"/>
          </a:p>
          <a:p>
            <a:r>
              <a:rPr lang="en-US" b="1" dirty="0"/>
              <a:t>pip install </a:t>
            </a:r>
            <a:r>
              <a:rPr lang="en-US" b="1" dirty="0" err="1"/>
              <a:t>opencv</a:t>
            </a:r>
            <a:r>
              <a:rPr lang="en-US" b="1" dirty="0"/>
              <a:t>-python</a:t>
            </a:r>
          </a:p>
          <a:p>
            <a:r>
              <a:rPr lang="en-US" dirty="0"/>
              <a:t>Used for video capture, frame extraction, and image preprocessing.</a:t>
            </a:r>
          </a:p>
          <a:p>
            <a:endParaRPr lang="en-IN" dirty="0"/>
          </a:p>
          <a:p>
            <a:r>
              <a:rPr lang="en-US" b="1" dirty="0"/>
              <a:t>pip install matplotlib</a:t>
            </a:r>
          </a:p>
          <a:p>
            <a:r>
              <a:rPr lang="en-US" dirty="0"/>
              <a:t>Used for visualization of detection outputs and performance graphs.</a:t>
            </a:r>
          </a:p>
          <a:p>
            <a:endParaRPr lang="en-IN" dirty="0"/>
          </a:p>
        </p:txBody>
      </p:sp>
    </p:spTree>
    <p:extLst>
      <p:ext uri="{BB962C8B-B14F-4D97-AF65-F5344CB8AC3E}">
        <p14:creationId xmlns:p14="http://schemas.microsoft.com/office/powerpoint/2010/main" val="406750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B97236-E428-12DD-2433-FB3E331C5ED6}"/>
              </a:ext>
            </a:extLst>
          </p:cNvPr>
          <p:cNvSpPr txBox="1"/>
          <p:nvPr/>
        </p:nvSpPr>
        <p:spPr>
          <a:xfrm>
            <a:off x="1908313" y="1537252"/>
            <a:ext cx="8110330" cy="3416320"/>
          </a:xfrm>
          <a:prstGeom prst="rect">
            <a:avLst/>
          </a:prstGeom>
          <a:noFill/>
        </p:spPr>
        <p:txBody>
          <a:bodyPr wrap="square" rtlCol="0">
            <a:spAutoFit/>
          </a:bodyPr>
          <a:lstStyle/>
          <a:p>
            <a:r>
              <a:rPr lang="en-US" b="1" dirty="0"/>
              <a:t>Objective 1: Perform Object Detection and Feature Extraction</a:t>
            </a:r>
          </a:p>
          <a:p>
            <a:r>
              <a:rPr lang="en-US" dirty="0"/>
              <a:t>Identify and extract important visual features from traffic frames to enhance model efficiency and detection performance.</a:t>
            </a:r>
          </a:p>
          <a:p>
            <a:r>
              <a:rPr lang="en-US" b="1" dirty="0"/>
              <a:t>Contribution: Extracting Relevant Visual Features Using YOLOv8m</a:t>
            </a:r>
          </a:p>
          <a:p>
            <a:r>
              <a:rPr lang="en-US" b="1" dirty="0"/>
              <a:t>Bounding Box Regression:</a:t>
            </a:r>
            <a:r>
              <a:rPr lang="en-US" dirty="0"/>
              <a:t> Predicts object location (x, y, width, height) in the image.</a:t>
            </a:r>
          </a:p>
          <a:p>
            <a:r>
              <a:rPr lang="en-US" b="1" dirty="0"/>
              <a:t>Class Probability Estimation:</a:t>
            </a:r>
            <a:r>
              <a:rPr lang="en-US" dirty="0"/>
              <a:t> Classifies objects as Helmet, No Helmet, Motorcycle, or Number Plate.</a:t>
            </a:r>
          </a:p>
          <a:p>
            <a:r>
              <a:rPr lang="en-US" b="1" dirty="0"/>
              <a:t>Confidence Score Calculation:</a:t>
            </a:r>
            <a:r>
              <a:rPr lang="en-US" dirty="0"/>
              <a:t> Measures prediction reliability.</a:t>
            </a:r>
          </a:p>
          <a:p>
            <a:r>
              <a:rPr lang="en-US" b="1" dirty="0"/>
              <a:t>Intersection over Union (</a:t>
            </a:r>
            <a:r>
              <a:rPr lang="en-US" b="1" dirty="0" err="1"/>
              <a:t>IoU</a:t>
            </a:r>
            <a:r>
              <a:rPr lang="en-US" b="1" dirty="0"/>
              <a:t>):</a:t>
            </a:r>
            <a:r>
              <a:rPr lang="en-US" dirty="0"/>
              <a:t> Evaluates overlap between predicted and ground truth boxes.</a:t>
            </a:r>
          </a:p>
          <a:p>
            <a:r>
              <a:rPr lang="en-US" b="1" dirty="0"/>
              <a:t>Non-Maximum Suppression (NMS):</a:t>
            </a:r>
            <a:r>
              <a:rPr lang="en-US" dirty="0"/>
              <a:t> Eliminates redundant overlapping detections.</a:t>
            </a:r>
          </a:p>
          <a:p>
            <a:endParaRPr lang="en-IN" dirty="0"/>
          </a:p>
        </p:txBody>
      </p:sp>
    </p:spTree>
    <p:extLst>
      <p:ext uri="{BB962C8B-B14F-4D97-AF65-F5344CB8AC3E}">
        <p14:creationId xmlns:p14="http://schemas.microsoft.com/office/powerpoint/2010/main" val="4267733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0233867-9A55-B17C-FCD4-399799D7E95B}"/>
              </a:ext>
            </a:extLst>
          </p:cNvPr>
          <p:cNvGraphicFramePr>
            <a:graphicFrameLocks noGrp="1"/>
          </p:cNvGraphicFramePr>
          <p:nvPr>
            <p:extLst>
              <p:ext uri="{D42A27DB-BD31-4B8C-83A1-F6EECF244321}">
                <p14:modId xmlns:p14="http://schemas.microsoft.com/office/powerpoint/2010/main" val="1833061968"/>
              </p:ext>
            </p:extLst>
          </p:nvPr>
        </p:nvGraphicFramePr>
        <p:xfrm>
          <a:off x="1699673" y="1427377"/>
          <a:ext cx="8792654" cy="3291840"/>
        </p:xfrm>
        <a:graphic>
          <a:graphicData uri="http://schemas.openxmlformats.org/drawingml/2006/table">
            <a:tbl>
              <a:tblPr>
                <a:tableStyleId>{2D5ABB26-0587-4C30-8999-92F81FD0307C}</a:tableStyleId>
              </a:tblPr>
              <a:tblGrid>
                <a:gridCol w="3415792">
                  <a:extLst>
                    <a:ext uri="{9D8B030D-6E8A-4147-A177-3AD203B41FA5}">
                      <a16:colId xmlns:a16="http://schemas.microsoft.com/office/drawing/2014/main" val="1532624667"/>
                    </a:ext>
                  </a:extLst>
                </a:gridCol>
                <a:gridCol w="5376862">
                  <a:extLst>
                    <a:ext uri="{9D8B030D-6E8A-4147-A177-3AD203B41FA5}">
                      <a16:colId xmlns:a16="http://schemas.microsoft.com/office/drawing/2014/main" val="1587600686"/>
                    </a:ext>
                  </a:extLst>
                </a:gridCol>
              </a:tblGrid>
              <a:tr h="365760">
                <a:tc>
                  <a:txBody>
                    <a:bodyPr/>
                    <a:lstStyle/>
                    <a:p>
                      <a:pPr>
                        <a:buNone/>
                      </a:pPr>
                      <a:r>
                        <a:rPr lang="en-IN" sz="1800" dirty="0"/>
                        <a:t>Method / Technique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800" dirty="0"/>
                        <a:t>Features obtained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4910036"/>
                  </a:ext>
                </a:extLst>
              </a:tr>
              <a:tr h="365760">
                <a:tc>
                  <a:txBody>
                    <a:bodyPr/>
                    <a:lstStyle/>
                    <a:p>
                      <a:pPr>
                        <a:buNone/>
                      </a:pPr>
                      <a:r>
                        <a:rPr lang="en-IN" sz="1800" dirty="0"/>
                        <a:t>Bounding Box Regression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pl-PL" sz="1800"/>
                        <a:t>4 (x, y, w, 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81614585"/>
                  </a:ext>
                </a:extLst>
              </a:tr>
              <a:tr h="365760">
                <a:tc>
                  <a:txBody>
                    <a:bodyPr/>
                    <a:lstStyle/>
                    <a:p>
                      <a:pPr>
                        <a:buNone/>
                      </a:pPr>
                      <a:r>
                        <a:rPr lang="en-IN" sz="1800" dirty="0"/>
                        <a:t>Class Probability Estimation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800" dirty="0"/>
                        <a:t>4 (Helmet, No Helmet, Motorcycle, Number Plate)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42949095"/>
                  </a:ext>
                </a:extLst>
              </a:tr>
              <a:tr h="365760">
                <a:tc>
                  <a:txBody>
                    <a:bodyPr/>
                    <a:lstStyle/>
                    <a:p>
                      <a:pPr>
                        <a:buNone/>
                      </a:pPr>
                      <a:r>
                        <a:rPr lang="en-IN" sz="1800" dirty="0"/>
                        <a:t>Confidence 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8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9245236"/>
                  </a:ext>
                </a:extLst>
              </a:tr>
              <a:tr h="365760">
                <a:tc>
                  <a:txBody>
                    <a:bodyPr/>
                    <a:lstStyle/>
                    <a:p>
                      <a:pPr>
                        <a:buNone/>
                      </a:pPr>
                      <a:r>
                        <a:rPr lang="en-IN" sz="1800" dirty="0"/>
                        <a:t>Intersection over Union (</a:t>
                      </a:r>
                      <a:r>
                        <a:rPr lang="en-IN" sz="1800" dirty="0" err="1"/>
                        <a:t>IoU</a:t>
                      </a:r>
                      <a:r>
                        <a:rPr lang="en-IN" sz="18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8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36547642"/>
                  </a:ext>
                </a:extLst>
              </a:tr>
              <a:tr h="365760">
                <a:tc>
                  <a:txBody>
                    <a:bodyPr/>
                    <a:lstStyle/>
                    <a:p>
                      <a:pPr>
                        <a:buNone/>
                      </a:pPr>
                      <a:r>
                        <a:rPr lang="en-IN" sz="1800" dirty="0"/>
                        <a:t>Non-Maximum Suppression (NMS)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8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61871483"/>
                  </a:ext>
                </a:extLst>
              </a:tr>
              <a:tr h="365760">
                <a:tc>
                  <a:txBody>
                    <a:bodyPr/>
                    <a:lstStyle/>
                    <a:p>
                      <a:pPr>
                        <a:buNone/>
                      </a:pPr>
                      <a:r>
                        <a:rPr lang="en-IN" sz="1800" dirty="0"/>
                        <a:t>Rider Count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8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8344674"/>
                  </a:ext>
                </a:extLst>
              </a:tr>
              <a:tr h="365760">
                <a:tc>
                  <a:txBody>
                    <a:bodyPr/>
                    <a:lstStyle/>
                    <a:p>
                      <a:pPr>
                        <a:buNone/>
                      </a:pPr>
                      <a:r>
                        <a:rPr lang="en-IN" sz="1800" dirty="0"/>
                        <a:t>OCR Character Extraction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800"/>
                        <a:t>Variable (Alphanumeric 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45412597"/>
                  </a:ext>
                </a:extLst>
              </a:tr>
              <a:tr h="365760">
                <a:tc>
                  <a:txBody>
                    <a:bodyPr/>
                    <a:lstStyle/>
                    <a:p>
                      <a:pPr>
                        <a:buNone/>
                      </a:pPr>
                      <a:r>
                        <a:rPr lang="en-IN" sz="1800" dirty="0"/>
                        <a:t>Text Confidence Score (OCR)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8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56785269"/>
                  </a:ext>
                </a:extLst>
              </a:tr>
            </a:tbl>
          </a:graphicData>
        </a:graphic>
      </p:graphicFrame>
      <p:sp>
        <p:nvSpPr>
          <p:cNvPr id="5" name="TextBox 4">
            <a:extLst>
              <a:ext uri="{FF2B5EF4-FFF2-40B4-BE49-F238E27FC236}">
                <a16:creationId xmlns:a16="http://schemas.microsoft.com/office/drawing/2014/main" id="{D353FA47-30E4-2F61-7DE5-23F5A1F423FC}"/>
              </a:ext>
            </a:extLst>
          </p:cNvPr>
          <p:cNvSpPr txBox="1"/>
          <p:nvPr/>
        </p:nvSpPr>
        <p:spPr>
          <a:xfrm>
            <a:off x="2703443" y="291548"/>
            <a:ext cx="5380383" cy="369332"/>
          </a:xfrm>
          <a:prstGeom prst="rect">
            <a:avLst/>
          </a:prstGeom>
          <a:noFill/>
        </p:spPr>
        <p:txBody>
          <a:bodyPr wrap="square" rtlCol="0">
            <a:spAutoFit/>
          </a:bodyPr>
          <a:lstStyle/>
          <a:p>
            <a:r>
              <a:rPr lang="en-IN" dirty="0"/>
              <a:t>Features Extracted</a:t>
            </a:r>
          </a:p>
        </p:txBody>
      </p:sp>
    </p:spTree>
    <p:extLst>
      <p:ext uri="{BB962C8B-B14F-4D97-AF65-F5344CB8AC3E}">
        <p14:creationId xmlns:p14="http://schemas.microsoft.com/office/powerpoint/2010/main" val="3583688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2B64A6-98A7-FBBD-64F2-B9605B7405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51875"/>
            <a:ext cx="12192000" cy="2954250"/>
          </a:xfrm>
          <a:prstGeom prst="rect">
            <a:avLst/>
          </a:prstGeom>
        </p:spPr>
      </p:pic>
      <p:sp>
        <p:nvSpPr>
          <p:cNvPr id="4" name="TextBox 3">
            <a:extLst>
              <a:ext uri="{FF2B5EF4-FFF2-40B4-BE49-F238E27FC236}">
                <a16:creationId xmlns:a16="http://schemas.microsoft.com/office/drawing/2014/main" id="{627A64B1-AFE3-5CC2-E3D1-B4C36634FBB2}"/>
              </a:ext>
            </a:extLst>
          </p:cNvPr>
          <p:cNvSpPr txBox="1"/>
          <p:nvPr/>
        </p:nvSpPr>
        <p:spPr>
          <a:xfrm>
            <a:off x="2796209" y="609600"/>
            <a:ext cx="6228521" cy="369332"/>
          </a:xfrm>
          <a:prstGeom prst="rect">
            <a:avLst/>
          </a:prstGeom>
          <a:noFill/>
        </p:spPr>
        <p:txBody>
          <a:bodyPr wrap="square" rtlCol="0">
            <a:spAutoFit/>
          </a:bodyPr>
          <a:lstStyle/>
          <a:p>
            <a:r>
              <a:rPr lang="en-IN" dirty="0"/>
              <a:t>Class Distribution</a:t>
            </a:r>
          </a:p>
        </p:txBody>
      </p:sp>
    </p:spTree>
    <p:extLst>
      <p:ext uri="{BB962C8B-B14F-4D97-AF65-F5344CB8AC3E}">
        <p14:creationId xmlns:p14="http://schemas.microsoft.com/office/powerpoint/2010/main" val="587154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0FB6EE-201B-D823-045B-A56F58B30F43}"/>
              </a:ext>
            </a:extLst>
          </p:cNvPr>
          <p:cNvSpPr txBox="1"/>
          <p:nvPr/>
        </p:nvSpPr>
        <p:spPr>
          <a:xfrm>
            <a:off x="1351722" y="967409"/>
            <a:ext cx="8666921" cy="4801314"/>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Objective 2: Handling Class Imbalance in Traffic Violation Data</a:t>
            </a:r>
          </a:p>
          <a:p>
            <a:r>
              <a:rPr lang="en-US" dirty="0">
                <a:latin typeface="Times New Roman" panose="02020603050405020304" pitchFamily="18" charset="0"/>
                <a:cs typeface="Times New Roman" panose="02020603050405020304" pitchFamily="18" charset="0"/>
              </a:rPr>
              <a:t>In traffic surveillance datasets, certain classes such as </a:t>
            </a:r>
            <a:r>
              <a:rPr lang="en-US" i="1" dirty="0">
                <a:latin typeface="Times New Roman" panose="02020603050405020304" pitchFamily="18" charset="0"/>
                <a:cs typeface="Times New Roman" panose="02020603050405020304" pitchFamily="18" charset="0"/>
              </a:rPr>
              <a:t>Helmet</a:t>
            </a:r>
            <a:r>
              <a:rPr lang="en-US" dirty="0">
                <a:latin typeface="Times New Roman" panose="02020603050405020304" pitchFamily="18" charset="0"/>
                <a:cs typeface="Times New Roman" panose="02020603050405020304" pitchFamily="18" charset="0"/>
              </a:rPr>
              <a:t> may contain significantly more samples than </a:t>
            </a:r>
            <a:r>
              <a:rPr lang="en-US" i="1" dirty="0">
                <a:latin typeface="Times New Roman" panose="02020603050405020304" pitchFamily="18" charset="0"/>
                <a:cs typeface="Times New Roman" panose="02020603050405020304" pitchFamily="18" charset="0"/>
              </a:rPr>
              <a:t>No Helmet</a:t>
            </a:r>
            <a:r>
              <a:rPr lang="en-US" dirty="0">
                <a:latin typeface="Times New Roman" panose="02020603050405020304" pitchFamily="18" charset="0"/>
                <a:cs typeface="Times New Roman" panose="02020603050405020304" pitchFamily="18" charset="0"/>
              </a:rPr>
              <a:t> or </a:t>
            </a:r>
            <a:r>
              <a:rPr lang="en-US" i="1" dirty="0">
                <a:latin typeface="Times New Roman" panose="02020603050405020304" pitchFamily="18" charset="0"/>
                <a:cs typeface="Times New Roman" panose="02020603050405020304" pitchFamily="18" charset="0"/>
              </a:rPr>
              <a:t>Number Plate</a:t>
            </a:r>
            <a:r>
              <a:rPr lang="en-US" dirty="0">
                <a:latin typeface="Times New Roman" panose="02020603050405020304" pitchFamily="18" charset="0"/>
                <a:cs typeface="Times New Roman" panose="02020603050405020304" pitchFamily="18" charset="0"/>
              </a:rPr>
              <a:t> classes.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imbalance can lead to biased predictions and reduced detection performance for violation cases.</a:t>
            </a: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Contribution: Improving Class Distribution through Data Augmentation</a:t>
            </a:r>
          </a:p>
          <a:p>
            <a:r>
              <a:rPr lang="en-US" b="1" dirty="0">
                <a:latin typeface="Times New Roman" panose="02020603050405020304" pitchFamily="18" charset="0"/>
                <a:cs typeface="Times New Roman" panose="02020603050405020304" pitchFamily="18" charset="0"/>
              </a:rPr>
              <a:t>1. Data Augmentation Techniques</a:t>
            </a:r>
          </a:p>
          <a:p>
            <a:r>
              <a:rPr lang="en-US" dirty="0">
                <a:latin typeface="Times New Roman" panose="02020603050405020304" pitchFamily="18" charset="0"/>
                <a:cs typeface="Times New Roman" panose="02020603050405020304" pitchFamily="18" charset="0"/>
              </a:rPr>
              <a:t>Applied transformation techniques to increase diversity in minority classes:</a:t>
            </a:r>
          </a:p>
          <a:p>
            <a:r>
              <a:rPr lang="en-US" dirty="0">
                <a:latin typeface="Times New Roman" panose="02020603050405020304" pitchFamily="18" charset="0"/>
                <a:cs typeface="Times New Roman" panose="02020603050405020304" pitchFamily="18" charset="0"/>
              </a:rPr>
              <a:t>Image Rotation</a:t>
            </a:r>
          </a:p>
          <a:p>
            <a:r>
              <a:rPr lang="en-US" dirty="0">
                <a:latin typeface="Times New Roman" panose="02020603050405020304" pitchFamily="18" charset="0"/>
                <a:cs typeface="Times New Roman" panose="02020603050405020304" pitchFamily="18" charset="0"/>
              </a:rPr>
              <a:t>Horizontal Flipping</a:t>
            </a:r>
          </a:p>
          <a:p>
            <a:r>
              <a:rPr lang="en-US" dirty="0">
                <a:latin typeface="Times New Roman" panose="02020603050405020304" pitchFamily="18" charset="0"/>
                <a:cs typeface="Times New Roman" panose="02020603050405020304" pitchFamily="18" charset="0"/>
              </a:rPr>
              <a:t>Brightness and Contrast Adjustment</a:t>
            </a:r>
          </a:p>
          <a:p>
            <a:r>
              <a:rPr lang="en-US" dirty="0">
                <a:latin typeface="Times New Roman" panose="02020603050405020304" pitchFamily="18" charset="0"/>
                <a:cs typeface="Times New Roman" panose="02020603050405020304" pitchFamily="18" charset="0"/>
              </a:rPr>
              <a:t>Scaling and Cropping</a:t>
            </a:r>
          </a:p>
          <a:p>
            <a:r>
              <a:rPr lang="en-US" dirty="0">
                <a:latin typeface="Times New Roman" panose="02020603050405020304" pitchFamily="18" charset="0"/>
                <a:cs typeface="Times New Roman" panose="02020603050405020304" pitchFamily="18" charset="0"/>
              </a:rPr>
              <a:t>Noise Injection</a:t>
            </a:r>
          </a:p>
          <a:p>
            <a:r>
              <a:rPr lang="en-US" dirty="0">
                <a:latin typeface="Times New Roman" panose="02020603050405020304" pitchFamily="18" charset="0"/>
                <a:cs typeface="Times New Roman" panose="02020603050405020304" pitchFamily="18" charset="0"/>
              </a:rPr>
              <a:t>These techniques enhance dataset balance and improve model generalization.</a:t>
            </a:r>
          </a:p>
          <a:p>
            <a:endParaRPr lang="en-IN" dirty="0"/>
          </a:p>
        </p:txBody>
      </p:sp>
    </p:spTree>
    <p:extLst>
      <p:ext uri="{BB962C8B-B14F-4D97-AF65-F5344CB8AC3E}">
        <p14:creationId xmlns:p14="http://schemas.microsoft.com/office/powerpoint/2010/main" val="1363107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68C151-B49A-6FE9-DB56-39FC2ECF2268}"/>
              </a:ext>
            </a:extLst>
          </p:cNvPr>
          <p:cNvSpPr txBox="1"/>
          <p:nvPr/>
        </p:nvSpPr>
        <p:spPr>
          <a:xfrm>
            <a:off x="1046922" y="914400"/>
            <a:ext cx="9660835" cy="452431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Objective 3: Optimizing Model Performance and Detection Accuracy</a:t>
            </a:r>
          </a:p>
          <a:p>
            <a:r>
              <a:rPr lang="en-US" dirty="0">
                <a:latin typeface="Times New Roman" panose="02020603050405020304" pitchFamily="18" charset="0"/>
                <a:cs typeface="Times New Roman" panose="02020603050405020304" pitchFamily="18" charset="0"/>
              </a:rPr>
              <a:t>Optimization techniques are applied to minimize detection loss, improve bounding box localization, and enhance real-time inference accuracy.</a:t>
            </a: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Contribution: Implementing YOLOv8m Optimization Strategy</a:t>
            </a:r>
          </a:p>
          <a:p>
            <a:r>
              <a:rPr lang="en-US" dirty="0">
                <a:latin typeface="Times New Roman" panose="02020603050405020304" pitchFamily="18" charset="0"/>
                <a:cs typeface="Times New Roman" panose="02020603050405020304" pitchFamily="18" charset="0"/>
              </a:rPr>
              <a:t>YOLOv8m utilizes advanced optimization techniques during training to improve convergence speed, stability, and detection precision.</a:t>
            </a:r>
          </a:p>
          <a:p>
            <a:r>
              <a:rPr lang="en-US" dirty="0">
                <a:latin typeface="Times New Roman" panose="02020603050405020304" pitchFamily="18" charset="0"/>
                <a:cs typeface="Times New Roman" panose="02020603050405020304" pitchFamily="18" charset="0"/>
              </a:rPr>
              <a:t>Key optimization components include:</a:t>
            </a:r>
          </a:p>
          <a:p>
            <a:pPr lvl="1"/>
            <a:r>
              <a:rPr lang="en-US" dirty="0">
                <a:latin typeface="Times New Roman" panose="02020603050405020304" pitchFamily="18" charset="0"/>
                <a:cs typeface="Times New Roman" panose="02020603050405020304" pitchFamily="18" charset="0"/>
              </a:rPr>
              <a:t>Adaptive Learning Rate Scheduling</a:t>
            </a:r>
          </a:p>
          <a:p>
            <a:pPr lvl="1"/>
            <a:r>
              <a:rPr lang="en-US" dirty="0">
                <a:latin typeface="Times New Roman" panose="02020603050405020304" pitchFamily="18" charset="0"/>
                <a:cs typeface="Times New Roman" panose="02020603050405020304" pitchFamily="18" charset="0"/>
              </a:rPr>
              <a:t>Confidence Threshold Tuning</a:t>
            </a:r>
          </a:p>
          <a:p>
            <a:pPr lvl="1"/>
            <a:r>
              <a:rPr lang="en-US" dirty="0" err="1">
                <a:latin typeface="Times New Roman" panose="02020603050405020304" pitchFamily="18" charset="0"/>
                <a:cs typeface="Times New Roman" panose="02020603050405020304" pitchFamily="18" charset="0"/>
              </a:rPr>
              <a:t>IoU</a:t>
            </a:r>
            <a:r>
              <a:rPr lang="en-US" dirty="0">
                <a:latin typeface="Times New Roman" panose="02020603050405020304" pitchFamily="18" charset="0"/>
                <a:cs typeface="Times New Roman" panose="02020603050405020304" pitchFamily="18" charset="0"/>
              </a:rPr>
              <a:t> Threshold Adjustment</a:t>
            </a:r>
          </a:p>
          <a:p>
            <a:pPr lvl="1"/>
            <a:r>
              <a:rPr lang="en-US" dirty="0">
                <a:latin typeface="Times New Roman" panose="02020603050405020304" pitchFamily="18" charset="0"/>
                <a:cs typeface="Times New Roman" panose="02020603050405020304" pitchFamily="18" charset="0"/>
              </a:rPr>
              <a:t>Non-Maximum Suppression (NMS)</a:t>
            </a:r>
          </a:p>
          <a:p>
            <a:pPr lvl="1"/>
            <a:r>
              <a:rPr lang="en-US" dirty="0">
                <a:latin typeface="Times New Roman" panose="02020603050405020304" pitchFamily="18" charset="0"/>
                <a:cs typeface="Times New Roman" panose="02020603050405020304" pitchFamily="18" charset="0"/>
              </a:rPr>
              <a:t>Batch Normalization for Stable Training</a:t>
            </a:r>
          </a:p>
          <a:p>
            <a:r>
              <a:rPr lang="en-US" dirty="0">
                <a:latin typeface="Times New Roman" panose="02020603050405020304" pitchFamily="18" charset="0"/>
                <a:cs typeface="Times New Roman" panose="02020603050405020304" pitchFamily="18" charset="0"/>
              </a:rPr>
              <a:t>These techniques improve overall detection reliability in traffic scenarios.</a:t>
            </a:r>
          </a:p>
          <a:p>
            <a:endParaRPr lang="en-IN" dirty="0"/>
          </a:p>
        </p:txBody>
      </p:sp>
    </p:spTree>
    <p:extLst>
      <p:ext uri="{BB962C8B-B14F-4D97-AF65-F5344CB8AC3E}">
        <p14:creationId xmlns:p14="http://schemas.microsoft.com/office/powerpoint/2010/main" val="3147416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F286DD-6FFE-1418-70A6-BFF41348E2C8}"/>
              </a:ext>
            </a:extLst>
          </p:cNvPr>
          <p:cNvSpPr txBox="1"/>
          <p:nvPr/>
        </p:nvSpPr>
        <p:spPr>
          <a:xfrm>
            <a:off x="1431235" y="596348"/>
            <a:ext cx="6427304" cy="369332"/>
          </a:xfrm>
          <a:prstGeom prst="rect">
            <a:avLst/>
          </a:prstGeom>
          <a:noFill/>
        </p:spPr>
        <p:txBody>
          <a:bodyPr wrap="square" rtlCol="0">
            <a:spAutoFit/>
          </a:bodyPr>
          <a:lstStyle/>
          <a:p>
            <a:r>
              <a:rPr lang="en-IN" dirty="0"/>
              <a:t>Training Performance Analysis</a:t>
            </a:r>
          </a:p>
        </p:txBody>
      </p:sp>
      <p:pic>
        <p:nvPicPr>
          <p:cNvPr id="4" name="Picture 3">
            <a:extLst>
              <a:ext uri="{FF2B5EF4-FFF2-40B4-BE49-F238E27FC236}">
                <a16:creationId xmlns:a16="http://schemas.microsoft.com/office/drawing/2014/main" id="{021062A2-3D04-D5F4-5828-76D7BC5EB8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3176" y="1695208"/>
            <a:ext cx="10545647" cy="3467584"/>
          </a:xfrm>
          <a:prstGeom prst="rect">
            <a:avLst/>
          </a:prstGeom>
        </p:spPr>
      </p:pic>
    </p:spTree>
    <p:extLst>
      <p:ext uri="{BB962C8B-B14F-4D97-AF65-F5344CB8AC3E}">
        <p14:creationId xmlns:p14="http://schemas.microsoft.com/office/powerpoint/2010/main" val="4143376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DF357-0A96-566A-9ED2-3719B819CC3E}"/>
              </a:ext>
            </a:extLst>
          </p:cNvPr>
          <p:cNvSpPr txBox="1"/>
          <p:nvPr/>
        </p:nvSpPr>
        <p:spPr>
          <a:xfrm>
            <a:off x="1084083" y="584461"/>
            <a:ext cx="6183984" cy="369332"/>
          </a:xfrm>
          <a:prstGeom prst="rect">
            <a:avLst/>
          </a:prstGeom>
          <a:noFill/>
        </p:spPr>
        <p:txBody>
          <a:bodyPr wrap="square" rtlCol="0">
            <a:spAutoFit/>
          </a:bodyPr>
          <a:lstStyle/>
          <a:p>
            <a:r>
              <a:rPr lang="en-US" b="1" dirty="0"/>
              <a:t>Training Performance Curve (mAP@50 and mAP@50–95)</a:t>
            </a:r>
            <a:endParaRPr lang="en-IN" dirty="0"/>
          </a:p>
        </p:txBody>
      </p:sp>
      <p:pic>
        <p:nvPicPr>
          <p:cNvPr id="5" name="Picture 4">
            <a:extLst>
              <a:ext uri="{FF2B5EF4-FFF2-40B4-BE49-F238E27FC236}">
                <a16:creationId xmlns:a16="http://schemas.microsoft.com/office/drawing/2014/main" id="{35A77467-3BF6-C669-E13C-C20543F939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6706" y="1081807"/>
            <a:ext cx="7584593" cy="5191732"/>
          </a:xfrm>
          <a:prstGeom prst="rect">
            <a:avLst/>
          </a:prstGeom>
        </p:spPr>
      </p:pic>
    </p:spTree>
    <p:extLst>
      <p:ext uri="{BB962C8B-B14F-4D97-AF65-F5344CB8AC3E}">
        <p14:creationId xmlns:p14="http://schemas.microsoft.com/office/powerpoint/2010/main" val="3401751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1E93F1-9FEF-E332-8B62-BD3C35FD80D4}"/>
              </a:ext>
            </a:extLst>
          </p:cNvPr>
          <p:cNvPicPr>
            <a:picLocks noChangeAspect="1"/>
          </p:cNvPicPr>
          <p:nvPr/>
        </p:nvPicPr>
        <p:blipFill>
          <a:blip r:embed="rId2"/>
          <a:stretch>
            <a:fillRect/>
          </a:stretch>
        </p:blipFill>
        <p:spPr>
          <a:xfrm>
            <a:off x="2478158" y="1298713"/>
            <a:ext cx="6882296" cy="5161722"/>
          </a:xfrm>
          <a:prstGeom prst="rect">
            <a:avLst/>
          </a:prstGeom>
        </p:spPr>
      </p:pic>
      <p:sp>
        <p:nvSpPr>
          <p:cNvPr id="3" name="TextBox 2">
            <a:extLst>
              <a:ext uri="{FF2B5EF4-FFF2-40B4-BE49-F238E27FC236}">
                <a16:creationId xmlns:a16="http://schemas.microsoft.com/office/drawing/2014/main" id="{96CE4281-6366-0871-32A5-48573DD9435C}"/>
              </a:ext>
            </a:extLst>
          </p:cNvPr>
          <p:cNvSpPr txBox="1"/>
          <p:nvPr/>
        </p:nvSpPr>
        <p:spPr>
          <a:xfrm>
            <a:off x="1669774" y="371061"/>
            <a:ext cx="5552661" cy="369332"/>
          </a:xfrm>
          <a:prstGeom prst="rect">
            <a:avLst/>
          </a:prstGeom>
          <a:noFill/>
        </p:spPr>
        <p:txBody>
          <a:bodyPr wrap="square" rtlCol="0">
            <a:spAutoFit/>
          </a:bodyPr>
          <a:lstStyle/>
          <a:p>
            <a:r>
              <a:rPr lang="en-IN" dirty="0"/>
              <a:t>Confusion matrix</a:t>
            </a:r>
          </a:p>
        </p:txBody>
      </p:sp>
    </p:spTree>
    <p:extLst>
      <p:ext uri="{BB962C8B-B14F-4D97-AF65-F5344CB8AC3E}">
        <p14:creationId xmlns:p14="http://schemas.microsoft.com/office/powerpoint/2010/main" val="1516033365"/>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docProps/app.xml><?xml version="1.0" encoding="utf-8"?>
<Properties xmlns="http://schemas.openxmlformats.org/officeDocument/2006/extended-properties" xmlns:vt="http://schemas.openxmlformats.org/officeDocument/2006/docPropsVTypes">
  <Template>Metropolitan</Template>
  <TotalTime>286</TotalTime>
  <Words>963</Words>
  <Application>Microsoft Office PowerPoint</Application>
  <PresentationFormat>Widescreen</PresentationFormat>
  <Paragraphs>135</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 Light</vt:lpstr>
      <vt:lpstr>Times New Roman</vt:lpstr>
      <vt:lpstr>Metropolitan</vt:lpstr>
      <vt:lpstr>PowerPoint Presentation</vt:lpstr>
      <vt:lpstr>PowerPoint Presentation</vt:lpstr>
      <vt:lpstr>PowerPoint Presentation</vt:lpstr>
      <vt:lpstr>Introduction</vt:lpstr>
      <vt:lpstr>Individual contributions</vt:lpstr>
      <vt:lpstr>PowerPoint Presentation</vt:lpstr>
      <vt:lpstr>PowerPoint Presentation</vt:lpstr>
      <vt:lpstr>PowerPoint Presentation</vt:lpstr>
      <vt:lpstr>PowerPoint Presentation</vt:lpstr>
      <vt:lpstr>Limitations</vt:lpstr>
      <vt:lpstr>Dataset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Lokesh Arla</dc:creator>
  <cp:lastModifiedBy>Lokesh Arla</cp:lastModifiedBy>
  <cp:revision>2</cp:revision>
  <dcterms:created xsi:type="dcterms:W3CDTF">2026-02-22T11:20:52Z</dcterms:created>
  <dcterms:modified xsi:type="dcterms:W3CDTF">2026-02-22T16:06:53Z</dcterms:modified>
</cp:coreProperties>
</file>